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336" r:id="rId3"/>
    <p:sldId id="258" r:id="rId4"/>
    <p:sldId id="259" r:id="rId5"/>
    <p:sldId id="260" r:id="rId6"/>
    <p:sldId id="291" r:id="rId7"/>
    <p:sldId id="339" r:id="rId8"/>
    <p:sldId id="301" r:id="rId9"/>
    <p:sldId id="264" r:id="rId10"/>
    <p:sldId id="265" r:id="rId11"/>
    <p:sldId id="268" r:id="rId12"/>
    <p:sldId id="279" r:id="rId13"/>
    <p:sldId id="269" r:id="rId14"/>
    <p:sldId id="270" r:id="rId15"/>
    <p:sldId id="271" r:id="rId16"/>
    <p:sldId id="272" r:id="rId17"/>
    <p:sldId id="273" r:id="rId18"/>
    <p:sldId id="274" r:id="rId19"/>
    <p:sldId id="280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266" r:id="rId29"/>
    <p:sldId id="281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535" autoAdjust="0"/>
  </p:normalViewPr>
  <p:slideViewPr>
    <p:cSldViewPr snapToGrid="0" snapToObjects="1">
      <p:cViewPr>
        <p:scale>
          <a:sx n="50" d="100"/>
          <a:sy n="50" d="100"/>
        </p:scale>
        <p:origin x="2386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88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E7CFE-613D-7899-76E4-DFC98B728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9503C-401C-76FD-869C-1622AFEF5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F64DD-EDAA-D156-4B98-AF0B78007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82622-8C89-1BC2-C7E6-5C97FF889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9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7488-EE02-12D7-E32F-E80BFCBB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07EDE-A2E1-B611-BABC-F5314E6B5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CF6D0-0480-69DF-16CB-84A96EA3D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C974D-3031-970E-0AD7-46B568C49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35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0F0C0-CA93-6F97-8337-082525A4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4E093-2EBC-0062-BB44-CA99FFF7E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92DCB-C687-82A6-8FE6-64ACCACE9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33AE4-3C12-9112-29B2-79F1EFFE8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21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10292-05BD-34C4-ECF0-7BBAC02D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8C440-6484-A3F2-A0ED-88E3CFFF0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D153B-609D-0317-30F6-EEAB86841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573B4-679A-AE70-F2BC-35C7BA6EC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6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6D99B-6777-9BAE-E278-2E2ABB02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3C644-B091-37E7-3286-38476F78D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3D25C-8938-FDC2-8EF3-E574305ED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215A0-380D-F007-AA38-AD408D4DC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90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CD7D-B82F-8DFE-04BC-8E2B2A7D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C4A76-AA41-252D-6C25-16C02718A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BE814-8F1D-56FA-F6AF-C8D568BEF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939A7-870E-7D7C-CA7C-2EAB83AC75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09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8EDA-8453-15C0-4D05-565E5D10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FA06A-6BF5-8ADD-6EE1-7A911169B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A199B-DBE0-8705-CB32-641919E42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903B9-7FF1-E26D-8533-B0DCC0664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927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8BAE7-FCBB-A1CB-BB6C-A578277D4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7EE9F-9FA4-E2C9-7A7A-59AF93CBE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358B0-4662-4850-9ED4-9DC84D8A0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56999-6D55-7C09-F4D5-8E4162166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92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6AD8-406B-1359-0776-92A4423E2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6E671-4250-B5D9-A5E9-FFB882224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E3AD4-842F-C71E-59A8-026206DCF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9FB9D-3364-6CC9-6FC4-1ED9838D9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4CE8-55E0-0C1E-57EC-1EC6813A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76B90-B76A-376B-3D55-F4BF4B8C2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C4061-7169-289A-C197-78E4E239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75E7D-65AB-0F15-14C9-44B7244A4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21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BFBEC-1C61-F839-836C-2671E5999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6E09E-6185-1320-7389-7F5900381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CC6C4-EF4C-18D4-26A2-42CE0BBCD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3AC3B-70EC-3D92-16D6-4424F87A1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98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469EF-C682-34F3-D30E-B01C248C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CE2A0-9B55-BD57-9AC9-30A1FEEE4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604D9-BB2E-D359-DAD7-4C4752FAE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B6278-21D6-25F5-F8EF-23DB0AF83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35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0383-481A-16FA-D273-037E7B78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707E-36E3-11B1-AA31-871D4156D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2F3AE-3CBF-078F-FC9F-3D2D2C8F3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7CF31-2216-01B7-24DE-409477AC18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95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8672-D2A4-5399-7EBA-D0EE9C75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8C50F-C90A-870D-54D3-1D1EF9C59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26A38-0348-FE60-8C21-E1C86A00C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6C2DB-B05E-47B2-AC5C-ED392521B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216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2EAD-B542-05EA-E55C-13260E687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A96EC-7EA9-4726-04A5-ECDFE39B4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A85DB-7A0A-33D4-19F0-60045B2D7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5C09-404A-5CC6-EADE-A9AE3A8FB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27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2F6F-0C82-FBE2-22DF-A0CDA17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B452A-3139-D0A2-1102-915D14F6A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95B89-9617-FF4E-EDE8-2BE7B5180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D1B06-4A04-2800-0CEE-99C99EF7F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93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6F11-6F51-3ABE-AB49-743E5861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49DAE-3337-5CC4-CE8E-035C74D8C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12E23-79A6-990D-E31A-1652E1547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1881C-E043-F7FB-358C-FD1FA1C09C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135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3973-AB97-F1BB-4268-54E16D74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FDC5F-C0BD-B7E5-6CD5-FD91B6D52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1B3B6-2BC2-E766-5F2F-D0451B81D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9BC32-4724-696E-18AC-366C31464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5922498" y="502920"/>
            <a:ext cx="2560320" cy="2560320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196818" y="777240"/>
            <a:ext cx="2103120" cy="21031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6242537" y="914400"/>
            <a:ext cx="314061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b="1" dirty="0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 //  IDS/IPS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Rules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298663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Mohammad Majdi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Maher Ramzi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4480560"/>
            <a:ext cx="1554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27432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93392" y="4480560"/>
            <a:ext cx="1554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1993392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12464" y="4480560"/>
            <a:ext cx="1554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3712464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31536" y="4480560"/>
            <a:ext cx="1554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5431536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Detection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50608" y="4480560"/>
            <a:ext cx="1554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7150608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Forensics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5AE063CB-EC9D-94F3-7BEA-4C0B21441EF8}"/>
              </a:ext>
            </a:extLst>
          </p:cNvPr>
          <p:cNvSpPr/>
          <p:nvPr/>
        </p:nvSpPr>
        <p:spPr>
          <a:xfrm>
            <a:off x="9089136" y="73152"/>
            <a:ext cx="54864" cy="50703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05D0A9-8FB4-9421-BCDF-15143514B246}"/>
              </a:ext>
            </a:extLst>
          </p:cNvPr>
          <p:cNvSpPr txBox="1"/>
          <p:nvPr/>
        </p:nvSpPr>
        <p:spPr>
          <a:xfrm>
            <a:off x="6267157" y="1386433"/>
            <a:ext cx="1962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alert </a:t>
            </a:r>
            <a:r>
              <a:rPr lang="en-US" sz="1100" b="1" kern="1200" dirty="0" err="1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tcp</a:t>
            </a:r>
            <a:r>
              <a:rPr lang="en-US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any </a:t>
            </a:r>
            <a:r>
              <a:rPr lang="en-US" sz="1100" b="1" kern="1200" dirty="0" err="1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any</a:t>
            </a:r>
            <a:r>
              <a:rPr lang="en-US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-&gt;</a:t>
            </a:r>
            <a:r>
              <a:rPr lang="ar-IQ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any 80 (</a:t>
            </a:r>
            <a:endParaRPr lang="ar-IQ" sz="1100" b="1" kern="1200" dirty="0">
              <a:solidFill>
                <a:srgbClr val="00FF88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l" rtl="0" eaLnBrk="1" latinLnBrk="0" hangingPunct="1">
              <a:buNone/>
            </a:pPr>
            <a:r>
              <a:rPr lang="en-US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msg:</a:t>
            </a:r>
            <a:r>
              <a:rPr lang="ar-IQ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en-AE" sz="1100" dirty="0">
              <a:effectLst/>
            </a:endParaRPr>
          </a:p>
          <a:p>
            <a:pPr marL="0" indent="0" algn="l" rtl="0" eaLnBrk="1" latinLnBrk="0" hangingPunct="1">
              <a:buNone/>
            </a:pPr>
            <a:r>
              <a:rPr lang="en-US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"HTTP Detect";</a:t>
            </a:r>
            <a:endParaRPr lang="en-AE" sz="1100" dirty="0">
              <a:effectLst/>
            </a:endParaRPr>
          </a:p>
          <a:p>
            <a:pPr marL="0" indent="0" algn="l" rtl="0" eaLnBrk="1" latinLnBrk="0" hangingPunct="1">
              <a:buNone/>
            </a:pPr>
            <a:r>
              <a:rPr lang="en-US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sid:1000001;</a:t>
            </a:r>
            <a:endParaRPr lang="ar-IQ" sz="1100" b="1" kern="1200" dirty="0">
              <a:solidFill>
                <a:srgbClr val="00FF88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l" rtl="0" eaLnBrk="1" latinLnBrk="0" hangingPunct="1">
              <a:buNone/>
            </a:pPr>
            <a:r>
              <a:rPr lang="en-US" sz="1100" b="1" kern="1200" dirty="0">
                <a:solidFill>
                  <a:srgbClr val="00FF88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AE" sz="11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// 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Snort Rules</a:t>
            </a:r>
            <a:endParaRPr lang="en-US" sz="1000" dirty="0">
              <a:solidFill>
                <a:srgbClr val="7A8899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9400" y="723900"/>
            <a:ext cx="622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Modes</a:t>
            </a:r>
            <a:endParaRPr lang="en-US" sz="2600" b="1" dirty="0">
              <a:solidFill>
                <a:srgbClr val="FFFFFF"/>
              </a:solidFill>
            </a:endParaRPr>
          </a:p>
        </p:txBody>
      </p:sp>
      <p:sp>
        <p:nvSpPr>
          <p:cNvPr id="28" name="HeaderLine">
            <a:extLst>
              <a:ext uri="{FF2B5EF4-FFF2-40B4-BE49-F238E27FC236}">
                <a16:creationId xmlns:a16="http://schemas.microsoft.com/office/drawing/2014/main" id="{534A801A-B124-3C61-5648-6DE3043F6197}"/>
              </a:ext>
            </a:extLst>
          </p:cNvPr>
          <p:cNvSpPr/>
          <p:nvPr/>
        </p:nvSpPr>
        <p:spPr>
          <a:xfrm>
            <a:off x="0" y="646616"/>
            <a:ext cx="9144000" cy="19050"/>
          </a:xfrm>
          <a:prstGeom prst="rect">
            <a:avLst/>
          </a:prstGeom>
          <a:gradFill>
            <a:gsLst>
              <a:gs pos="0">
                <a:srgbClr val="00C8E0"/>
              </a:gs>
              <a:gs pos="50000">
                <a:srgbClr val="00C8E0"/>
              </a:gs>
              <a:gs pos="100000">
                <a:srgbClr val="00C8E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C7BDA4-8A2F-41E6-BD9D-CF4CECCCFFF6}"/>
              </a:ext>
            </a:extLst>
          </p:cNvPr>
          <p:cNvSpPr/>
          <p:nvPr/>
        </p:nvSpPr>
        <p:spPr>
          <a:xfrm>
            <a:off x="279400" y="1346200"/>
            <a:ext cx="8585200" cy="1117600"/>
          </a:xfrm>
          <a:prstGeom prst="roundRect">
            <a:avLst/>
          </a:prstGeom>
          <a:solidFill>
            <a:srgbClr val="060E1C"/>
          </a:solidFill>
          <a:ln w="9525" cap="flat" cmpd="sng" algn="ctr">
            <a:solidFill>
              <a:srgbClr val="00C8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F3AD7C-B01F-423D-BB4D-41BE05FED0B6}"/>
              </a:ext>
            </a:extLst>
          </p:cNvPr>
          <p:cNvSpPr/>
          <p:nvPr/>
        </p:nvSpPr>
        <p:spPr>
          <a:xfrm>
            <a:off x="406400" y="1701800"/>
            <a:ext cx="381000" cy="381000"/>
          </a:xfrm>
          <a:prstGeom prst="ellipse">
            <a:avLst/>
          </a:prstGeom>
          <a:solidFill>
            <a:srgbClr val="0B1830"/>
          </a:solidFill>
          <a:ln w="19050" cap="flat" cmpd="sng" algn="ctr">
            <a:solidFill>
              <a:srgbClr val="00C8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AE" sz="1400" b="1">
                <a:solidFill>
                  <a:srgbClr val="00C8E0"/>
                </a:solidFill>
              </a:rPr>
              <a:t>01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72EBDD-6915-4E43-BC3C-317FC8837D8F}"/>
              </a:ext>
            </a:extLst>
          </p:cNvPr>
          <p:cNvSpPr/>
          <p:nvPr/>
        </p:nvSpPr>
        <p:spPr>
          <a:xfrm>
            <a:off x="279400" y="2565400"/>
            <a:ext cx="8585200" cy="1117600"/>
          </a:xfrm>
          <a:prstGeom prst="roundRect">
            <a:avLst/>
          </a:prstGeom>
          <a:solidFill>
            <a:srgbClr val="060E1C"/>
          </a:solidFill>
          <a:ln w="9525" cap="flat" cmpd="sng" algn="ctr">
            <a:solidFill>
              <a:srgbClr val="5B7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8E2172-CCF0-432B-90D9-9DCE3DEF2DBC}"/>
              </a:ext>
            </a:extLst>
          </p:cNvPr>
          <p:cNvSpPr/>
          <p:nvPr/>
        </p:nvSpPr>
        <p:spPr>
          <a:xfrm>
            <a:off x="406400" y="2921000"/>
            <a:ext cx="381000" cy="381000"/>
          </a:xfrm>
          <a:prstGeom prst="ellipse">
            <a:avLst/>
          </a:prstGeom>
          <a:solidFill>
            <a:srgbClr val="0B1830"/>
          </a:solidFill>
          <a:ln w="19050" cap="flat" cmpd="sng" algn="ctr">
            <a:solidFill>
              <a:srgbClr val="5B7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AE" sz="1400" b="1">
                <a:solidFill>
                  <a:srgbClr val="5B7FFF"/>
                </a:solidFill>
              </a:rPr>
              <a:t>02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2BE926-FC2D-4E74-9C3B-B3B9D7BFB270}"/>
              </a:ext>
            </a:extLst>
          </p:cNvPr>
          <p:cNvSpPr/>
          <p:nvPr/>
        </p:nvSpPr>
        <p:spPr>
          <a:xfrm>
            <a:off x="279400" y="3784600"/>
            <a:ext cx="8585200" cy="1117600"/>
          </a:xfrm>
          <a:prstGeom prst="roundRect">
            <a:avLst/>
          </a:prstGeom>
          <a:solidFill>
            <a:srgbClr val="060E1C"/>
          </a:solidFill>
          <a:ln w="9525" cap="flat" cmpd="sng" algn="ctr">
            <a:solidFill>
              <a:srgbClr val="00D68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977DE8-15C8-4F27-BB05-0D59551A875F}"/>
              </a:ext>
            </a:extLst>
          </p:cNvPr>
          <p:cNvSpPr/>
          <p:nvPr/>
        </p:nvSpPr>
        <p:spPr>
          <a:xfrm>
            <a:off x="406400" y="4140200"/>
            <a:ext cx="381000" cy="381000"/>
          </a:xfrm>
          <a:prstGeom prst="ellipse">
            <a:avLst/>
          </a:prstGeom>
          <a:solidFill>
            <a:srgbClr val="0B1830"/>
          </a:solidFill>
          <a:ln w="19050" cap="flat" cmpd="sng" algn="ctr">
            <a:solidFill>
              <a:srgbClr val="00D68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AE" sz="1400" b="1">
                <a:solidFill>
                  <a:srgbClr val="00D68F"/>
                </a:solidFill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A36AE-A3E7-4217-870A-CDD6C098983A}"/>
              </a:ext>
            </a:extLst>
          </p:cNvPr>
          <p:cNvSpPr txBox="1"/>
          <p:nvPr/>
        </p:nvSpPr>
        <p:spPr>
          <a:xfrm>
            <a:off x="863600" y="1422400"/>
            <a:ext cx="7797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00C8E0"/>
                </a:solidFill>
              </a:rPr>
              <a:t>Sniffer Mode</a:t>
            </a:r>
            <a:endParaRPr lang="en-AE" sz="2000" b="1">
              <a:solidFill>
                <a:srgbClr val="00C8E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A603F2-C4C9-4C0C-8900-AAE40AF4CC18}"/>
              </a:ext>
            </a:extLst>
          </p:cNvPr>
          <p:cNvSpPr txBox="1"/>
          <p:nvPr/>
        </p:nvSpPr>
        <p:spPr>
          <a:xfrm>
            <a:off x="863600" y="1752600"/>
            <a:ext cx="54483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3A8FAF"/>
                </a:solidFill>
              </a:rPr>
              <a:t>   Flags: -v  -d  -e  -i &lt;interface&gt;</a:t>
            </a:r>
            <a:endParaRPr lang="en-AE" sz="1000">
              <a:solidFill>
                <a:srgbClr val="3A8FA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644B8-BBD7-4282-A7B0-96EDA0382A4D}"/>
              </a:ext>
            </a:extLst>
          </p:cNvPr>
          <p:cNvSpPr txBox="1"/>
          <p:nvPr/>
        </p:nvSpPr>
        <p:spPr>
          <a:xfrm>
            <a:off x="863600" y="2641600"/>
            <a:ext cx="7797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5B7FFF"/>
                </a:solidFill>
              </a:rPr>
              <a:t>Packet Logger Mode</a:t>
            </a:r>
            <a:endParaRPr lang="en-AE" sz="2000" b="1">
              <a:solidFill>
                <a:srgbClr val="5B7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9E8708-2964-47C8-AD90-9223A0466E3E}"/>
              </a:ext>
            </a:extLst>
          </p:cNvPr>
          <p:cNvSpPr txBox="1"/>
          <p:nvPr/>
        </p:nvSpPr>
        <p:spPr>
          <a:xfrm>
            <a:off x="863600" y="2971800"/>
            <a:ext cx="54483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4060CC"/>
                </a:solidFill>
              </a:rPr>
              <a:t>   Flags: -dev  -l &lt;log-dir&gt;  -h &lt;network/CIDR&gt;</a:t>
            </a:r>
            <a:endParaRPr lang="en-AE" sz="1000">
              <a:solidFill>
                <a:srgbClr val="4060CC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C11142-43B0-4F7C-BDEC-625215E0C171}"/>
              </a:ext>
            </a:extLst>
          </p:cNvPr>
          <p:cNvSpPr txBox="1"/>
          <p:nvPr/>
        </p:nvSpPr>
        <p:spPr>
          <a:xfrm>
            <a:off x="863600" y="3860800"/>
            <a:ext cx="7797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00D68F"/>
                </a:solidFill>
              </a:rPr>
              <a:t>NIDS / NIPS Mode</a:t>
            </a:r>
            <a:endParaRPr lang="en-AE" sz="2000" b="1">
              <a:solidFill>
                <a:srgbClr val="00D68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4B1051-71FF-4D4C-B421-4535CBC86E45}"/>
              </a:ext>
            </a:extLst>
          </p:cNvPr>
          <p:cNvSpPr txBox="1"/>
          <p:nvPr/>
        </p:nvSpPr>
        <p:spPr>
          <a:xfrm>
            <a:off x="863600" y="4191000"/>
            <a:ext cx="54483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2A9970"/>
                </a:solidFill>
              </a:rPr>
              <a:t>   Flags: -d  -h &lt;net&gt;  -l &lt;log&gt;  -c snort.conf</a:t>
            </a:r>
            <a:endParaRPr lang="en-AE" sz="1000">
              <a:solidFill>
                <a:srgbClr val="2A997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710FB4-80FA-4190-8428-5A1537333820}"/>
              </a:ext>
            </a:extLst>
          </p:cNvPr>
          <p:cNvSpPr/>
          <p:nvPr/>
        </p:nvSpPr>
        <p:spPr>
          <a:xfrm>
            <a:off x="863600" y="1943100"/>
            <a:ext cx="7797800" cy="12700"/>
          </a:xfrm>
          <a:prstGeom prst="rect">
            <a:avLst/>
          </a:prstGeom>
          <a:solidFill>
            <a:srgbClr val="1C3A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00F6F3E-88A2-4DCB-B963-A2F8C1E7AC33}"/>
              </a:ext>
            </a:extLst>
          </p:cNvPr>
          <p:cNvSpPr/>
          <p:nvPr/>
        </p:nvSpPr>
        <p:spPr>
          <a:xfrm>
            <a:off x="863600" y="1981200"/>
            <a:ext cx="7797800" cy="215900"/>
          </a:xfrm>
          <a:prstGeom prst="roundRect">
            <a:avLst/>
          </a:prstGeom>
          <a:solidFill>
            <a:srgbClr val="020810"/>
          </a:solidFill>
          <a:ln w="9525" cap="flat" cmpd="sng" algn="ctr">
            <a:solidFill>
              <a:srgbClr val="00C8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924658-58F3-4939-9A64-836A04F1F7CA}"/>
              </a:ext>
            </a:extLst>
          </p:cNvPr>
          <p:cNvSpPr txBox="1"/>
          <p:nvPr/>
        </p:nvSpPr>
        <p:spPr>
          <a:xfrm>
            <a:off x="939800" y="1993900"/>
            <a:ext cx="76454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00FFD0"/>
                </a:solidFill>
              </a:rPr>
              <a:t>$ snort -v -d -e -i eth0</a:t>
            </a:r>
            <a:endParaRPr lang="en-AE" sz="1000">
              <a:solidFill>
                <a:srgbClr val="00FFD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2820B2-FA1E-4036-9996-17D7F64507DA}"/>
              </a:ext>
            </a:extLst>
          </p:cNvPr>
          <p:cNvSpPr txBox="1"/>
          <p:nvPr/>
        </p:nvSpPr>
        <p:spPr>
          <a:xfrm>
            <a:off x="863600" y="2209800"/>
            <a:ext cx="7797800" cy="177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AE" sz="1000">
                <a:solidFill>
                  <a:srgbClr val="C0D8E8"/>
                </a:solidFill>
              </a:rPr>
              <a:t>Reads IP packets off the network and streams them to the console — headers, payload and data-link layer details.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539D45-8996-4911-A45F-61CD0EB4C20A}"/>
              </a:ext>
            </a:extLst>
          </p:cNvPr>
          <p:cNvSpPr/>
          <p:nvPr/>
        </p:nvSpPr>
        <p:spPr>
          <a:xfrm>
            <a:off x="863600" y="3162300"/>
            <a:ext cx="7797800" cy="12700"/>
          </a:xfrm>
          <a:prstGeom prst="rect">
            <a:avLst/>
          </a:prstGeom>
          <a:solidFill>
            <a:srgbClr val="1C3A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A1EDD7B-CD29-4E5A-B0BB-5A80DDDB7B53}"/>
              </a:ext>
            </a:extLst>
          </p:cNvPr>
          <p:cNvSpPr/>
          <p:nvPr/>
        </p:nvSpPr>
        <p:spPr>
          <a:xfrm>
            <a:off x="863600" y="3200400"/>
            <a:ext cx="7797800" cy="215900"/>
          </a:xfrm>
          <a:prstGeom prst="roundRect">
            <a:avLst/>
          </a:prstGeom>
          <a:solidFill>
            <a:srgbClr val="020810"/>
          </a:solidFill>
          <a:ln w="9525" cap="flat" cmpd="sng" algn="ctr">
            <a:solidFill>
              <a:srgbClr val="5B7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DD76AD-40A6-4FC2-B719-6307CBC4B3DE}"/>
              </a:ext>
            </a:extLst>
          </p:cNvPr>
          <p:cNvSpPr txBox="1"/>
          <p:nvPr/>
        </p:nvSpPr>
        <p:spPr>
          <a:xfrm>
            <a:off x="939800" y="3213100"/>
            <a:ext cx="76454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A5BFFF"/>
                </a:solidFill>
              </a:rPr>
              <a:t>$ snort -dev -l ./log -h 192.168.1.0/24</a:t>
            </a:r>
            <a:endParaRPr lang="en-AE" sz="1000">
              <a:solidFill>
                <a:srgbClr val="A5BF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4E5D1-2AC4-444C-AFDA-CDD7E1811D65}"/>
              </a:ext>
            </a:extLst>
          </p:cNvPr>
          <p:cNvSpPr txBox="1"/>
          <p:nvPr/>
        </p:nvSpPr>
        <p:spPr>
          <a:xfrm>
            <a:off x="863600" y="3429000"/>
            <a:ext cx="7797800" cy="177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AE" sz="1000">
                <a:solidFill>
                  <a:srgbClr val="C0D8E8"/>
                </a:solidFill>
              </a:rPr>
              <a:t>Captures every inbound and outbound IP packet and writes them to disk, organised in a directory hierarchy by IP address.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F13BFB-6176-40F1-BE5E-04ACDE4B2A31}"/>
              </a:ext>
            </a:extLst>
          </p:cNvPr>
          <p:cNvSpPr/>
          <p:nvPr/>
        </p:nvSpPr>
        <p:spPr>
          <a:xfrm>
            <a:off x="863600" y="4381500"/>
            <a:ext cx="7797800" cy="12700"/>
          </a:xfrm>
          <a:prstGeom prst="rect">
            <a:avLst/>
          </a:prstGeom>
          <a:solidFill>
            <a:srgbClr val="1C3A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DEC6B6E-5E02-4347-96C6-801344F8B79F}"/>
              </a:ext>
            </a:extLst>
          </p:cNvPr>
          <p:cNvSpPr/>
          <p:nvPr/>
        </p:nvSpPr>
        <p:spPr>
          <a:xfrm>
            <a:off x="863600" y="4419600"/>
            <a:ext cx="7797800" cy="215900"/>
          </a:xfrm>
          <a:prstGeom prst="roundRect">
            <a:avLst/>
          </a:prstGeom>
          <a:solidFill>
            <a:srgbClr val="020810"/>
          </a:solidFill>
          <a:ln w="9525" cap="flat" cmpd="sng" algn="ctr">
            <a:solidFill>
              <a:srgbClr val="00D68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A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652595-79ED-44A2-859E-0828A7AF19F0}"/>
              </a:ext>
            </a:extLst>
          </p:cNvPr>
          <p:cNvSpPr txBox="1"/>
          <p:nvPr/>
        </p:nvSpPr>
        <p:spPr>
          <a:xfrm>
            <a:off x="939800" y="4432300"/>
            <a:ext cx="7645400" cy="190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7FFFCF"/>
                </a:solidFill>
              </a:rPr>
              <a:t>$ snort -d -h 192.168.1.0/24 -l ./log -c snort.conf</a:t>
            </a:r>
            <a:endParaRPr lang="en-AE" sz="1000">
              <a:solidFill>
                <a:srgbClr val="7FFFCF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27A900-ACA6-4321-8059-E452751EBF9B}"/>
              </a:ext>
            </a:extLst>
          </p:cNvPr>
          <p:cNvSpPr txBox="1"/>
          <p:nvPr/>
        </p:nvSpPr>
        <p:spPr>
          <a:xfrm>
            <a:off x="863600" y="4648200"/>
            <a:ext cx="7797800" cy="177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AE" sz="1000">
                <a:solidFill>
                  <a:srgbClr val="C0D8E8"/>
                </a:solidFill>
              </a:rPr>
              <a:t>Most powerful mode: analyses real-time traffic against user-defined rules — generates alerts, logs events, or blocks threats inline.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67AB4FC-3945-4046-891F-8D633E3625C2}"/>
              </a:ext>
            </a:extLst>
          </p:cNvPr>
          <p:cNvSpPr/>
          <p:nvPr/>
        </p:nvSpPr>
        <p:spPr>
          <a:xfrm>
            <a:off x="6527800" y="838200"/>
            <a:ext cx="2184400" cy="330200"/>
          </a:xfrm>
          <a:prstGeom prst="roundRect">
            <a:avLst/>
          </a:prstGeom>
          <a:solidFill>
            <a:srgbClr val="003844"/>
          </a:solidFill>
          <a:ln w="19050" cap="flat" cmpd="sng" algn="ctr">
            <a:solidFill>
              <a:srgbClr val="00C8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0C8E0"/>
                </a:solidFill>
              </a:rPr>
              <a:t>3 Core Modes</a:t>
            </a:r>
            <a:endParaRPr lang="en-AE" sz="1200" b="1">
              <a:solidFill>
                <a:srgbClr val="00C8E0"/>
              </a:solidFill>
            </a:endParaRPr>
          </a:p>
        </p:txBody>
      </p:sp>
      <p:sp>
        <p:nvSpPr>
          <p:cNvPr id="400" name="TopStripe0"/>
          <p:cNvSpPr>
            <a:spLocks noGrp="1"/>
          </p:cNvSpPr>
          <p:nvPr/>
        </p:nvSpPr>
        <p:spPr>
          <a:xfrm>
            <a:off x="279400" y="1346200"/>
            <a:ext cx="8585200" cy="3810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1" name="TopStripe1"/>
          <p:cNvSpPr>
            <a:spLocks noGrp="1"/>
          </p:cNvSpPr>
          <p:nvPr/>
        </p:nvSpPr>
        <p:spPr>
          <a:xfrm>
            <a:off x="279400" y="2565400"/>
            <a:ext cx="8585200" cy="38100"/>
          </a:xfrm>
          <a:prstGeom prst="rect">
            <a:avLst/>
          </a:prstGeom>
          <a:solidFill>
            <a:srgbClr val="5B7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2" name="TopStripe2"/>
          <p:cNvSpPr>
            <a:spLocks noGrp="1"/>
          </p:cNvSpPr>
          <p:nvPr/>
        </p:nvSpPr>
        <p:spPr>
          <a:xfrm>
            <a:off x="279400" y="3784600"/>
            <a:ext cx="8585200" cy="381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323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//  RULE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Snort Rules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Snort Rule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Snort rule consists of exactly TWO parts: a Rule Header and Rule Options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685800"/>
          </a:xfrm>
          <a:prstGeom prst="rect">
            <a:avLst/>
          </a:prstGeom>
          <a:solidFill>
            <a:srgbClr val="0A0E1A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tcp  </a:t>
            </a: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$EXTERNAL_NET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any  -&gt;  </a:t>
            </a: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$HOME_NET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80  </a:t>
            </a: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(msg:"ET WEB_SERVER SQL Injection Attempt"; content:"union"; nocase; sid:2001219; rev:8;)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30175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3429000" y="2487168"/>
            <a:ext cx="53492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HEADER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254203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OPTIONS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233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233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Header Components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—  alert | log | pass | drop | reject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 —  tcp | udp | icmp | ip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 —  $EXTERNAL_NET / any / CIDR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Port  —  any / 80 / !443 / [80,8080]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 —  -&gt; (uni) or &lt;&gt; (bi-directional)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IP &amp; Port  —  $HOME_NET / specific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0233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023360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Option Keywords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1546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  —  Human-readable alert message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—  Payload byte pattern match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pcre  —  Perl-Compatible Regular Expression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/ rev  —  Unique rule ID / revision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 —  TCP flags (SYN, ACK, FIN, RST…)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classtype  —  Attack classification category</a:t>
            </a:r>
            <a:endParaRPr lang="en-US" sz="950" dirty="0"/>
          </a:p>
        </p:txBody>
      </p:sp>
      <p:sp>
        <p:nvSpPr>
          <p:cNvPr id="21" name="HeaderLine">
            <a:extLst>
              <a:ext uri="{FF2B5EF4-FFF2-40B4-BE49-F238E27FC236}">
                <a16:creationId xmlns:a16="http://schemas.microsoft.com/office/drawing/2014/main" id="{3673DAA5-4980-6850-8055-288C3FAF3384}"/>
              </a:ext>
            </a:extLst>
          </p:cNvPr>
          <p:cNvSpPr/>
          <p:nvPr/>
        </p:nvSpPr>
        <p:spPr>
          <a:xfrm>
            <a:off x="0" y="646616"/>
            <a:ext cx="9144000" cy="19050"/>
          </a:xfrm>
          <a:prstGeom prst="rect">
            <a:avLst/>
          </a:prstGeom>
          <a:gradFill>
            <a:gsLst>
              <a:gs pos="0">
                <a:srgbClr val="34D399"/>
              </a:gs>
              <a:gs pos="50000">
                <a:srgbClr val="22D3EE"/>
              </a:gs>
              <a:gs pos="100000">
                <a:srgbClr val="A78BF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//  RULE HEADER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Snort Rules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Header: Deep Dive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4864" cy="1170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502920" y="1472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| log | pass | drop | reject | sdrop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110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Snort does when a match is found. 'alert' generates an alert AND logs. 'drop' (inline mode) silently blocks the packet.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54864" cy="1170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892040" y="1472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673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 |  udp  |  icmp  |  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9110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protocol filter. 'ip' matches all. Used to scope rule performance — avoid broad protocols unless necessary.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79192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365760" y="2679192"/>
            <a:ext cx="54864" cy="11704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502920" y="2734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9352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$EXTERNAL_NET  |  any  |  192.168.0.0/24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1729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CIDR notation, negation (!), lists [ip1,ip2], and Snort variables like $HOME_NET defined in snort.conf.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679192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4754880" y="2679192"/>
            <a:ext cx="54864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892040" y="2734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9352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 |  80  |  !443  |  [80,8080:8090]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1729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ranges (80:1024), negation (!80), comma-separated lists. Critically impacts detection engine performance.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941064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365760" y="3941064"/>
            <a:ext cx="54864" cy="1170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502920" y="3995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 unidirectional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&lt;&gt;   bidirectional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4348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'-&gt;' is asymmetric: SRC → DST. Use '&lt;&gt;' for protocols like FTP where data flows both ways (command + data channels).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941064"/>
            <a:ext cx="41148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4754880" y="3941064"/>
            <a:ext cx="54864" cy="1170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4892040" y="3995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IP &amp; PORT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$HOME_NET  |  any  |  specific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44348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of source fields. Snort variables ($HTTP_SERVERS, $SQL_SERVERS) reduce false positives and improve targeting.</a:t>
            </a:r>
            <a:endParaRPr lang="en-US" sz="850" dirty="0"/>
          </a:p>
        </p:txBody>
      </p:sp>
      <p:sp>
        <p:nvSpPr>
          <p:cNvPr id="36" name="HeaderLine">
            <a:extLst>
              <a:ext uri="{FF2B5EF4-FFF2-40B4-BE49-F238E27FC236}">
                <a16:creationId xmlns:a16="http://schemas.microsoft.com/office/drawing/2014/main" id="{1474E0B9-D1C0-F15B-087D-1E05B1BB1D9A}"/>
              </a:ext>
            </a:extLst>
          </p:cNvPr>
          <p:cNvSpPr/>
          <p:nvPr/>
        </p:nvSpPr>
        <p:spPr>
          <a:xfrm>
            <a:off x="0" y="646616"/>
            <a:ext cx="9144000" cy="19050"/>
          </a:xfrm>
          <a:prstGeom prst="rect">
            <a:avLst/>
          </a:prstGeom>
          <a:gradFill>
            <a:gsLst>
              <a:gs pos="0">
                <a:srgbClr val="34D399"/>
              </a:gs>
              <a:gs pos="50000">
                <a:srgbClr val="22D3EE"/>
              </a:gs>
              <a:gs pos="100000">
                <a:srgbClr val="A78BF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  //  RULE OPTIONS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Snort Rules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Rule Options: Keywords &amp; Categories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389888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E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1752" y="1719072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8328" y="1764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msg: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19659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label: msg:"Malware Beacon"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1752" y="2523744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" y="2569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sid: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" y="2770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Unique signature ID. &lt;100 = reserved; 100-999999 = Snort; 1000000+ = local rules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1752" y="3328416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8328" y="33741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rev: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8328" y="35753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Rule revision number. Always increment when modifying an existing rule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01752" y="4133088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8328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classtype: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8328" y="43799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attack category (trojan-activity, web-application-attack, etc.)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423160" y="1389888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23160" y="1389888"/>
            <a:ext cx="2011680" cy="2743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23160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E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496312" y="1719072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32888" y="1764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32888" y="19659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Payload byte pattern: content:"GET /malware.exe". Supports | hex | encoding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496312" y="2523744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532888" y="2569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pcre: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532888" y="2770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Regex engine: pcre:"/passwd/i". Most powerful but CPU-expensive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96312" y="3328416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32888" y="33741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nocase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532888" y="35753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content matching modifier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496312" y="4133088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532888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FF8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distance:/within: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532888" y="43799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Relative anchoring of multiple content patterns in sequence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617720" y="1389888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617720" y="1389888"/>
            <a:ext cx="201168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617720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E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FLOW / STATE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90872" y="1719072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727448" y="1764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flow: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27448" y="19659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TCP stream direction: to_server,established — avoids matching handshake noise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690872" y="2523744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727448" y="2569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flags: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27448" y="2770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TCP flag inspection: flags:S (SYN scan), flags:SF (stealth FIN scan)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690872" y="3328416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727448" y="33741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dsize: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727448" y="35753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Payload size filter: dsize:0; matches empty payloads (C2 heartbeats)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690872" y="4133088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727448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byte_test: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727448" y="43799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Binary field comparison — critical for protocol-level malware analysis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812280" y="1389888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12280" y="1389888"/>
            <a:ext cx="2011680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12280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E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RESPONSE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885432" y="1719072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922008" y="1764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922008" y="19659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Rate-limits alerts: type limit,track by_src,count 5,seconds 60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885432" y="2523744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922008" y="2569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922008" y="2770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Alert severity 1 (highest) to 10 (lowest) — feeds SIEM triage logic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885432" y="3328416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922008" y="33741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922008" y="35753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Attaches MITRE ATT&amp;CK IDs, CVE references, affected_product info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885432" y="4133088"/>
            <a:ext cx="18745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922008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922008" y="43799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Links to CVE/BugTraq/Snort SID DB: reference:cve,2021-44228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opBar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gradFill>
            <a:gsLst>
              <a:gs pos="0">
                <a:srgbClr val="3B82F6"/>
              </a:gs>
              <a:gs pos="50000">
                <a:srgbClr val="00D4FF"/>
              </a:gs>
              <a:gs pos="100000">
                <a:srgbClr val="10B981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 sz="100" dirty="0"/>
          </a:p>
        </p:txBody>
      </p:sp>
      <p:sp>
        <p:nvSpPr>
          <p:cNvPr id="601" name="SectionLbl"/>
          <p:cNvSpPr/>
          <p:nvPr/>
        </p:nvSpPr>
        <p:spPr>
          <a:xfrm>
            <a:off x="406400" y="17780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00" b="1" spc="250" dirty="0">
                <a:solidFill>
                  <a:srgbClr val="00D4FF"/>
                </a:solidFill>
                <a:latin typeface="Calibri"/>
              </a:rPr>
              <a:t>0</a:t>
            </a:r>
            <a:r>
              <a:rPr lang="ar-IQ" sz="900" b="1" spc="250" dirty="0">
                <a:solidFill>
                  <a:srgbClr val="00D4FF"/>
                </a:solidFill>
                <a:latin typeface="Calibri"/>
              </a:rPr>
              <a:t>5</a:t>
            </a:r>
            <a:r>
              <a:rPr lang="en-US" sz="900" b="1" spc="250" dirty="0">
                <a:solidFill>
                  <a:srgbClr val="00D4FF"/>
                </a:solidFill>
                <a:latin typeface="Calibri"/>
              </a:rPr>
              <a:t>  //  DETECTION LOGIC</a:t>
            </a:r>
          </a:p>
        </p:txBody>
      </p:sp>
      <p:sp>
        <p:nvSpPr>
          <p:cNvPr id="602" name="Title"/>
          <p:cNvSpPr/>
          <p:nvPr/>
        </p:nvSpPr>
        <p:spPr>
          <a:xfrm>
            <a:off x="406400" y="431800"/>
            <a:ext cx="5715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Snort Processing Pipeline</a:t>
            </a:r>
          </a:p>
        </p:txBody>
      </p:sp>
      <p:sp>
        <p:nvSpPr>
          <p:cNvPr id="603" name="Subtitle"/>
          <p:cNvSpPr/>
          <p:nvPr/>
        </p:nvSpPr>
        <p:spPr>
          <a:xfrm>
            <a:off x="406400" y="81280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How Snort processes network traffic from capture to alert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3B0648-4B0C-1D0C-637B-CD4B4C4DD5D7}"/>
              </a:ext>
            </a:extLst>
          </p:cNvPr>
          <p:cNvGrpSpPr/>
          <p:nvPr/>
        </p:nvGrpSpPr>
        <p:grpSpPr>
          <a:xfrm>
            <a:off x="406400" y="1168400"/>
            <a:ext cx="2540000" cy="1397000"/>
            <a:chOff x="406400" y="1168400"/>
            <a:chExt cx="2540000" cy="1397000"/>
          </a:xfrm>
        </p:grpSpPr>
        <p:sp>
          <p:nvSpPr>
            <p:cNvPr id="604" name="Card0"/>
            <p:cNvSpPr/>
            <p:nvPr/>
          </p:nvSpPr>
          <p:spPr>
            <a:xfrm>
              <a:off x="406400" y="1168400"/>
              <a:ext cx="2540000" cy="1397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253449"/>
                </a:gs>
                <a:gs pos="100000">
                  <a:srgbClr val="1E293B"/>
                </a:gs>
              </a:gsLst>
              <a:lin ang="5400000" scaled="1"/>
            </a:gradFill>
            <a:ln w="6350">
              <a:solidFill>
                <a:srgbClr val="3B82F6">
                  <a:alpha val="30000"/>
                </a:srgbClr>
              </a:solidFill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05" name="Glow0"/>
            <p:cNvSpPr/>
            <p:nvPr/>
          </p:nvSpPr>
          <p:spPr>
            <a:xfrm>
              <a:off x="1397000" y="1295400"/>
              <a:ext cx="558800" cy="5588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06" name="Icon0"/>
            <p:cNvSpPr/>
            <p:nvPr/>
          </p:nvSpPr>
          <p:spPr>
            <a:xfrm>
              <a:off x="1473200" y="1346200"/>
              <a:ext cx="406400" cy="406400"/>
            </a:xfrm>
            <a:prstGeom prst="ellipse">
              <a:avLst/>
            </a:prstGeom>
            <a:gradFill>
              <a:gsLst>
                <a:gs pos="0">
                  <a:srgbClr val="3B82F6"/>
                </a:gs>
                <a:gs pos="100000">
                  <a:srgbClr val="1D4ED8"/>
                </a:gs>
              </a:gsLst>
              <a:lin ang="5400000" scaled="1"/>
            </a:gradFill>
            <a:ln w="0">
              <a:noFill/>
            </a:ln>
          </p:spPr>
          <p:txBody>
            <a:bodyPr wrap="non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01</a:t>
              </a:r>
            </a:p>
          </p:txBody>
        </p:sp>
        <p:sp>
          <p:nvSpPr>
            <p:cNvPr id="607" name="ST0"/>
            <p:cNvSpPr/>
            <p:nvPr/>
          </p:nvSpPr>
          <p:spPr>
            <a:xfrm>
              <a:off x="533400" y="1854200"/>
              <a:ext cx="2286000" cy="254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Packet Capture</a:t>
              </a:r>
            </a:p>
          </p:txBody>
        </p:sp>
        <p:sp>
          <p:nvSpPr>
            <p:cNvPr id="608" name="SD0"/>
            <p:cNvSpPr/>
            <p:nvPr/>
          </p:nvSpPr>
          <p:spPr>
            <a:xfrm>
              <a:off x="558800" y="2133600"/>
              <a:ext cx="2235200" cy="355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/>
            <a:lstStyle/>
            <a:p>
              <a:pPr algn="ctr">
                <a:buNone/>
              </a:pPr>
              <a:r>
                <a:rPr lang="en-US" sz="900" dirty="0">
                  <a:solidFill>
                    <a:srgbClr val="E2E8F0"/>
                  </a:solidFill>
                  <a:latin typeface="Calibri"/>
                </a:rPr>
                <a:t>Sniff raw packets from NIC via libpcap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0C9FB23-7F8B-DC15-96DD-F96519DB3BCA}"/>
              </a:ext>
            </a:extLst>
          </p:cNvPr>
          <p:cNvGrpSpPr/>
          <p:nvPr/>
        </p:nvGrpSpPr>
        <p:grpSpPr>
          <a:xfrm>
            <a:off x="3302000" y="1168400"/>
            <a:ext cx="2540000" cy="1397000"/>
            <a:chOff x="3302000" y="1168400"/>
            <a:chExt cx="2540000" cy="1397000"/>
          </a:xfrm>
        </p:grpSpPr>
        <p:sp>
          <p:nvSpPr>
            <p:cNvPr id="609" name="Card1"/>
            <p:cNvSpPr/>
            <p:nvPr/>
          </p:nvSpPr>
          <p:spPr>
            <a:xfrm>
              <a:off x="3302000" y="1168400"/>
              <a:ext cx="2540000" cy="1397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253449"/>
                </a:gs>
                <a:gs pos="100000">
                  <a:srgbClr val="1E293B"/>
                </a:gs>
              </a:gsLst>
              <a:lin ang="5400000" scaled="1"/>
            </a:gradFill>
            <a:ln w="6350">
              <a:solidFill>
                <a:srgbClr val="6366F1">
                  <a:alpha val="30000"/>
                </a:srgbClr>
              </a:solidFill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10" name="Glow1"/>
            <p:cNvSpPr/>
            <p:nvPr/>
          </p:nvSpPr>
          <p:spPr>
            <a:xfrm>
              <a:off x="4292600" y="1295400"/>
              <a:ext cx="558800" cy="558800"/>
            </a:xfrm>
            <a:prstGeom prst="ellipse">
              <a:avLst/>
            </a:prstGeom>
            <a:solidFill>
              <a:srgbClr val="6366F1">
                <a:alpha val="2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11" name="Icon1"/>
            <p:cNvSpPr/>
            <p:nvPr/>
          </p:nvSpPr>
          <p:spPr>
            <a:xfrm>
              <a:off x="4368800" y="1346200"/>
              <a:ext cx="406400" cy="406400"/>
            </a:xfrm>
            <a:prstGeom prst="ellipse">
              <a:avLst/>
            </a:prstGeom>
            <a:gradFill>
              <a:gsLst>
                <a:gs pos="0">
                  <a:srgbClr val="6366F1"/>
                </a:gs>
                <a:gs pos="100000">
                  <a:srgbClr val="4338CA"/>
                </a:gs>
              </a:gsLst>
              <a:lin ang="5400000" scaled="1"/>
            </a:gradFill>
            <a:ln w="0">
              <a:noFill/>
            </a:ln>
          </p:spPr>
          <p:txBody>
            <a:bodyPr wrap="non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02</a:t>
              </a:r>
            </a:p>
          </p:txBody>
        </p:sp>
        <p:sp>
          <p:nvSpPr>
            <p:cNvPr id="612" name="ST1"/>
            <p:cNvSpPr/>
            <p:nvPr/>
          </p:nvSpPr>
          <p:spPr>
            <a:xfrm>
              <a:off x="3429000" y="1854200"/>
              <a:ext cx="2286000" cy="254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Packet Decoder</a:t>
              </a:r>
            </a:p>
          </p:txBody>
        </p:sp>
        <p:sp>
          <p:nvSpPr>
            <p:cNvPr id="613" name="SD1"/>
            <p:cNvSpPr/>
            <p:nvPr/>
          </p:nvSpPr>
          <p:spPr>
            <a:xfrm>
              <a:off x="3454400" y="2133600"/>
              <a:ext cx="2235200" cy="355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/>
            <a:lstStyle/>
            <a:p>
              <a:pPr algn="ctr">
                <a:buNone/>
              </a:pPr>
              <a:r>
                <a:rPr lang="en-US" sz="900" dirty="0">
                  <a:solidFill>
                    <a:srgbClr val="E2E8F0"/>
                  </a:solidFill>
                  <a:latin typeface="Calibri"/>
                </a:rPr>
                <a:t>Parse Ethernet, IP, TCP/UDP protocol layers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1EF2016-A927-A7DC-8437-05CA26C39680}"/>
              </a:ext>
            </a:extLst>
          </p:cNvPr>
          <p:cNvGrpSpPr/>
          <p:nvPr/>
        </p:nvGrpSpPr>
        <p:grpSpPr>
          <a:xfrm>
            <a:off x="6197600" y="1168400"/>
            <a:ext cx="2540000" cy="1397000"/>
            <a:chOff x="6197600" y="1168400"/>
            <a:chExt cx="2540000" cy="1397000"/>
          </a:xfrm>
        </p:grpSpPr>
        <p:sp>
          <p:nvSpPr>
            <p:cNvPr id="614" name="Card2"/>
            <p:cNvSpPr/>
            <p:nvPr/>
          </p:nvSpPr>
          <p:spPr>
            <a:xfrm>
              <a:off x="6197600" y="1168400"/>
              <a:ext cx="2540000" cy="1397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253449"/>
                </a:gs>
                <a:gs pos="100000">
                  <a:srgbClr val="1E293B"/>
                </a:gs>
              </a:gsLst>
              <a:lin ang="5400000" scaled="1"/>
            </a:gradFill>
            <a:ln w="6350">
              <a:solidFill>
                <a:srgbClr val="8B5CF6">
                  <a:alpha val="30000"/>
                </a:srgbClr>
              </a:solidFill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15" name="Glow2"/>
            <p:cNvSpPr/>
            <p:nvPr/>
          </p:nvSpPr>
          <p:spPr>
            <a:xfrm>
              <a:off x="7188200" y="1295400"/>
              <a:ext cx="558800" cy="558800"/>
            </a:xfrm>
            <a:prstGeom prst="ellipse">
              <a:avLst/>
            </a:prstGeom>
            <a:solidFill>
              <a:srgbClr val="8B5CF6">
                <a:alpha val="2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16" name="Icon2"/>
            <p:cNvSpPr/>
            <p:nvPr/>
          </p:nvSpPr>
          <p:spPr>
            <a:xfrm>
              <a:off x="7264400" y="1346200"/>
              <a:ext cx="406400" cy="406400"/>
            </a:xfrm>
            <a:prstGeom prst="ellipse">
              <a:avLst/>
            </a:prstGeom>
            <a:gradFill>
              <a:gsLst>
                <a:gs pos="0">
                  <a:srgbClr val="8B5CF6"/>
                </a:gs>
                <a:gs pos="100000">
                  <a:srgbClr val="6D28D9"/>
                </a:gs>
              </a:gsLst>
              <a:lin ang="5400000" scaled="1"/>
            </a:gradFill>
            <a:ln w="0">
              <a:noFill/>
            </a:ln>
          </p:spPr>
          <p:txBody>
            <a:bodyPr wrap="non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03</a:t>
              </a:r>
            </a:p>
          </p:txBody>
        </p:sp>
        <p:sp>
          <p:nvSpPr>
            <p:cNvPr id="617" name="ST2"/>
            <p:cNvSpPr/>
            <p:nvPr/>
          </p:nvSpPr>
          <p:spPr>
            <a:xfrm>
              <a:off x="6324600" y="1854200"/>
              <a:ext cx="2286000" cy="254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Preprocessors</a:t>
              </a:r>
            </a:p>
          </p:txBody>
        </p:sp>
        <p:sp>
          <p:nvSpPr>
            <p:cNvPr id="618" name="SD2"/>
            <p:cNvSpPr/>
            <p:nvPr/>
          </p:nvSpPr>
          <p:spPr>
            <a:xfrm>
              <a:off x="6350000" y="2133600"/>
              <a:ext cx="2235200" cy="355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/>
            <a:lstStyle/>
            <a:p>
              <a:pPr algn="ctr">
                <a:buNone/>
              </a:pPr>
              <a:r>
                <a:rPr lang="en-US" sz="900" dirty="0">
                  <a:solidFill>
                    <a:srgbClr val="E2E8F0"/>
                  </a:solidFill>
                  <a:latin typeface="Calibri"/>
                </a:rPr>
                <a:t>Stream reassembly, defrag, normalize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7843706-6F1D-E8B2-C958-3B6ED469043E}"/>
              </a:ext>
            </a:extLst>
          </p:cNvPr>
          <p:cNvGrpSpPr/>
          <p:nvPr/>
        </p:nvGrpSpPr>
        <p:grpSpPr>
          <a:xfrm>
            <a:off x="406400" y="2794000"/>
            <a:ext cx="2540000" cy="1397000"/>
            <a:chOff x="406400" y="2794000"/>
            <a:chExt cx="2540000" cy="1397000"/>
          </a:xfrm>
        </p:grpSpPr>
        <p:sp>
          <p:nvSpPr>
            <p:cNvPr id="619" name="Card3"/>
            <p:cNvSpPr/>
            <p:nvPr/>
          </p:nvSpPr>
          <p:spPr>
            <a:xfrm>
              <a:off x="406400" y="2794000"/>
              <a:ext cx="2540000" cy="1397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253449"/>
                </a:gs>
                <a:gs pos="100000">
                  <a:srgbClr val="1E293B"/>
                </a:gs>
              </a:gsLst>
              <a:lin ang="5400000" scaled="1"/>
            </a:gradFill>
            <a:ln w="6350">
              <a:solidFill>
                <a:srgbClr val="F59E0B">
                  <a:alpha val="30000"/>
                </a:srgbClr>
              </a:solidFill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20" name="Glow3"/>
            <p:cNvSpPr/>
            <p:nvPr/>
          </p:nvSpPr>
          <p:spPr>
            <a:xfrm>
              <a:off x="1397000" y="2921000"/>
              <a:ext cx="558800" cy="558800"/>
            </a:xfrm>
            <a:prstGeom prst="ellipse">
              <a:avLst/>
            </a:prstGeom>
            <a:solidFill>
              <a:srgbClr val="F59E0B">
                <a:alpha val="2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21" name="Icon3"/>
            <p:cNvSpPr/>
            <p:nvPr/>
          </p:nvSpPr>
          <p:spPr>
            <a:xfrm>
              <a:off x="1473200" y="2971800"/>
              <a:ext cx="406400" cy="406400"/>
            </a:xfrm>
            <a:prstGeom prst="ellipse">
              <a:avLst/>
            </a:prstGeom>
            <a:gradFill>
              <a:gsLst>
                <a:gs pos="0">
                  <a:srgbClr val="F59E0B"/>
                </a:gs>
                <a:gs pos="100000">
                  <a:srgbClr val="D97706"/>
                </a:gs>
              </a:gsLst>
              <a:lin ang="5400000" scaled="1"/>
            </a:gradFill>
            <a:ln w="0">
              <a:noFill/>
            </a:ln>
          </p:spPr>
          <p:txBody>
            <a:bodyPr wrap="non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04</a:t>
              </a:r>
            </a:p>
          </p:txBody>
        </p:sp>
        <p:sp>
          <p:nvSpPr>
            <p:cNvPr id="622" name="ST3"/>
            <p:cNvSpPr/>
            <p:nvPr/>
          </p:nvSpPr>
          <p:spPr>
            <a:xfrm>
              <a:off x="533400" y="3479800"/>
              <a:ext cx="2286000" cy="254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Detection Engine</a:t>
              </a:r>
            </a:p>
          </p:txBody>
        </p:sp>
        <p:sp>
          <p:nvSpPr>
            <p:cNvPr id="623" name="SD3"/>
            <p:cNvSpPr/>
            <p:nvPr/>
          </p:nvSpPr>
          <p:spPr>
            <a:xfrm>
              <a:off x="558800" y="3759200"/>
              <a:ext cx="2235200" cy="355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/>
            <a:lstStyle/>
            <a:p>
              <a:pPr algn="ctr">
                <a:buNone/>
              </a:pPr>
              <a:r>
                <a:rPr lang="en-US" sz="900" dirty="0">
                  <a:solidFill>
                    <a:srgbClr val="E2E8F0"/>
                  </a:solidFill>
                  <a:latin typeface="Calibri"/>
                </a:rPr>
                <a:t>Aho-Corasick multi-pattern match in single pass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99F8C76-CCAB-B007-6717-531E3B4CAB3B}"/>
              </a:ext>
            </a:extLst>
          </p:cNvPr>
          <p:cNvGrpSpPr/>
          <p:nvPr/>
        </p:nvGrpSpPr>
        <p:grpSpPr>
          <a:xfrm>
            <a:off x="3302000" y="2794000"/>
            <a:ext cx="2540000" cy="1397000"/>
            <a:chOff x="3302000" y="2794000"/>
            <a:chExt cx="2540000" cy="1397000"/>
          </a:xfrm>
        </p:grpSpPr>
        <p:sp>
          <p:nvSpPr>
            <p:cNvPr id="624" name="Card4"/>
            <p:cNvSpPr/>
            <p:nvPr/>
          </p:nvSpPr>
          <p:spPr>
            <a:xfrm>
              <a:off x="3302000" y="2794000"/>
              <a:ext cx="2540000" cy="1397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253449"/>
                </a:gs>
                <a:gs pos="100000">
                  <a:srgbClr val="1E293B"/>
                </a:gs>
              </a:gsLst>
              <a:lin ang="5400000" scaled="1"/>
            </a:gradFill>
            <a:ln w="6350">
              <a:solidFill>
                <a:srgbClr val="EF4444">
                  <a:alpha val="30000"/>
                </a:srgbClr>
              </a:solidFill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25" name="Glow4"/>
            <p:cNvSpPr/>
            <p:nvPr/>
          </p:nvSpPr>
          <p:spPr>
            <a:xfrm>
              <a:off x="4292600" y="2921000"/>
              <a:ext cx="558800" cy="558800"/>
            </a:xfrm>
            <a:prstGeom prst="ellipse">
              <a:avLst/>
            </a:prstGeom>
            <a:solidFill>
              <a:srgbClr val="EF4444">
                <a:alpha val="2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26" name="Icon4"/>
            <p:cNvSpPr/>
            <p:nvPr/>
          </p:nvSpPr>
          <p:spPr>
            <a:xfrm>
              <a:off x="4368800" y="2971800"/>
              <a:ext cx="406400" cy="406400"/>
            </a:xfrm>
            <a:prstGeom prst="ellipse">
              <a:avLst/>
            </a:prstGeom>
            <a:gradFill>
              <a:gsLst>
                <a:gs pos="0">
                  <a:srgbClr val="EF4444"/>
                </a:gs>
                <a:gs pos="100000">
                  <a:srgbClr val="DC2626"/>
                </a:gs>
              </a:gsLst>
              <a:lin ang="5400000" scaled="1"/>
            </a:gradFill>
            <a:ln w="0">
              <a:noFill/>
            </a:ln>
          </p:spPr>
          <p:txBody>
            <a:bodyPr wrap="non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05</a:t>
              </a:r>
            </a:p>
          </p:txBody>
        </p:sp>
        <p:sp>
          <p:nvSpPr>
            <p:cNvPr id="627" name="ST4"/>
            <p:cNvSpPr/>
            <p:nvPr/>
          </p:nvSpPr>
          <p:spPr>
            <a:xfrm>
              <a:off x="3429000" y="3479800"/>
              <a:ext cx="2286000" cy="254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Rule Evaluation</a:t>
              </a:r>
            </a:p>
          </p:txBody>
        </p:sp>
        <p:sp>
          <p:nvSpPr>
            <p:cNvPr id="628" name="SD4"/>
            <p:cNvSpPr/>
            <p:nvPr/>
          </p:nvSpPr>
          <p:spPr>
            <a:xfrm>
              <a:off x="3454400" y="3759200"/>
              <a:ext cx="2235200" cy="355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/>
            <a:lstStyle/>
            <a:p>
              <a:pPr algn="ctr">
                <a:buNone/>
              </a:pPr>
              <a:r>
                <a:rPr lang="en-US" sz="900" dirty="0">
                  <a:solidFill>
                    <a:srgbClr val="E2E8F0"/>
                  </a:solidFill>
                  <a:latin typeface="Calibri"/>
                </a:rPr>
                <a:t>Check rule headers, options chain, trigger alerts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DF38ECE-F2DA-445D-BEA6-953BFC483BC6}"/>
              </a:ext>
            </a:extLst>
          </p:cNvPr>
          <p:cNvGrpSpPr/>
          <p:nvPr/>
        </p:nvGrpSpPr>
        <p:grpSpPr>
          <a:xfrm>
            <a:off x="6197600" y="2794000"/>
            <a:ext cx="2540000" cy="1397000"/>
            <a:chOff x="6197600" y="2794000"/>
            <a:chExt cx="2540000" cy="1397000"/>
          </a:xfrm>
        </p:grpSpPr>
        <p:sp>
          <p:nvSpPr>
            <p:cNvPr id="629" name="Card5"/>
            <p:cNvSpPr/>
            <p:nvPr/>
          </p:nvSpPr>
          <p:spPr>
            <a:xfrm>
              <a:off x="6197600" y="2794000"/>
              <a:ext cx="2540000" cy="1397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253449"/>
                </a:gs>
                <a:gs pos="100000">
                  <a:srgbClr val="1E293B"/>
                </a:gs>
              </a:gsLst>
              <a:lin ang="5400000" scaled="1"/>
            </a:gradFill>
            <a:ln w="6350">
              <a:solidFill>
                <a:srgbClr val="10B981">
                  <a:alpha val="30000"/>
                </a:srgbClr>
              </a:solidFill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30" name="Glow5"/>
            <p:cNvSpPr/>
            <p:nvPr/>
          </p:nvSpPr>
          <p:spPr>
            <a:xfrm>
              <a:off x="7188200" y="2921000"/>
              <a:ext cx="558800" cy="558800"/>
            </a:xfrm>
            <a:prstGeom prst="ellipse">
              <a:avLst/>
            </a:prstGeom>
            <a:solidFill>
              <a:srgbClr val="10B981">
                <a:alpha val="2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 sz="100" dirty="0"/>
            </a:p>
          </p:txBody>
        </p:sp>
        <p:sp>
          <p:nvSpPr>
            <p:cNvPr id="631" name="Icon5"/>
            <p:cNvSpPr/>
            <p:nvPr/>
          </p:nvSpPr>
          <p:spPr>
            <a:xfrm>
              <a:off x="7264400" y="2971800"/>
              <a:ext cx="406400" cy="406400"/>
            </a:xfrm>
            <a:prstGeom prst="ellipse">
              <a:avLst/>
            </a:prstGeom>
            <a:gradFill>
              <a:gsLst>
                <a:gs pos="0">
                  <a:srgbClr val="10B981"/>
                </a:gs>
                <a:gs pos="100000">
                  <a:srgbClr val="059669"/>
                </a:gs>
              </a:gsLst>
              <a:lin ang="5400000" scaled="1"/>
            </a:gradFill>
            <a:ln w="0">
              <a:noFill/>
            </a:ln>
          </p:spPr>
          <p:txBody>
            <a:bodyPr wrap="non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06</a:t>
              </a:r>
            </a:p>
          </p:txBody>
        </p:sp>
        <p:sp>
          <p:nvSpPr>
            <p:cNvPr id="632" name="ST5"/>
            <p:cNvSpPr/>
            <p:nvPr/>
          </p:nvSpPr>
          <p:spPr>
            <a:xfrm>
              <a:off x="6324600" y="3479800"/>
              <a:ext cx="2286000" cy="254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Output Plugins</a:t>
              </a:r>
            </a:p>
          </p:txBody>
        </p:sp>
        <p:sp>
          <p:nvSpPr>
            <p:cNvPr id="633" name="SD5"/>
            <p:cNvSpPr/>
            <p:nvPr/>
          </p:nvSpPr>
          <p:spPr>
            <a:xfrm>
              <a:off x="6350000" y="3759200"/>
              <a:ext cx="2235200" cy="355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/>
            <a:lstStyle/>
            <a:p>
              <a:pPr algn="ctr">
                <a:buNone/>
              </a:pPr>
              <a:r>
                <a:rPr lang="en-US" sz="900" dirty="0">
                  <a:solidFill>
                    <a:srgbClr val="E2E8F0"/>
                  </a:solidFill>
                  <a:latin typeface="Calibri"/>
                </a:rPr>
                <a:t>Log to Unified2, syslog, PCAP, SIEM integration</a:t>
              </a:r>
            </a:p>
          </p:txBody>
        </p:sp>
      </p:grpSp>
      <p:sp>
        <p:nvSpPr>
          <p:cNvPr id="634" name="Chev1_0"/>
          <p:cNvSpPr/>
          <p:nvPr/>
        </p:nvSpPr>
        <p:spPr>
          <a:xfrm>
            <a:off x="3009900" y="1778000"/>
            <a:ext cx="228600" cy="177800"/>
          </a:xfrm>
          <a:prstGeom prst="chevron">
            <a:avLst>
              <a:gd name="adj" fmla="val 50000"/>
            </a:avLst>
          </a:prstGeom>
          <a:solidFill>
            <a:srgbClr val="00D4FF">
              <a:alpha val="70000"/>
            </a:srgbClr>
          </a:solidFill>
          <a:ln w="0">
            <a:noFill/>
          </a:ln>
        </p:spPr>
        <p:txBody>
          <a:bodyPr/>
          <a:lstStyle/>
          <a:p>
            <a:endParaRPr lang="en-US" sz="100" dirty="0"/>
          </a:p>
        </p:txBody>
      </p:sp>
      <p:sp>
        <p:nvSpPr>
          <p:cNvPr id="635" name="Chev1_1"/>
          <p:cNvSpPr/>
          <p:nvPr/>
        </p:nvSpPr>
        <p:spPr>
          <a:xfrm>
            <a:off x="5905500" y="1778000"/>
            <a:ext cx="228600" cy="177800"/>
          </a:xfrm>
          <a:prstGeom prst="chevron">
            <a:avLst>
              <a:gd name="adj" fmla="val 50000"/>
            </a:avLst>
          </a:prstGeom>
          <a:solidFill>
            <a:srgbClr val="00D4FF">
              <a:alpha val="70000"/>
            </a:srgbClr>
          </a:solidFill>
          <a:ln w="0">
            <a:noFill/>
          </a:ln>
        </p:spPr>
        <p:txBody>
          <a:bodyPr/>
          <a:lstStyle/>
          <a:p>
            <a:endParaRPr lang="en-US" sz="100" dirty="0"/>
          </a:p>
        </p:txBody>
      </p:sp>
      <p:sp>
        <p:nvSpPr>
          <p:cNvPr id="636" name="Chev2_0"/>
          <p:cNvSpPr/>
          <p:nvPr/>
        </p:nvSpPr>
        <p:spPr>
          <a:xfrm>
            <a:off x="3009900" y="3403600"/>
            <a:ext cx="228600" cy="177800"/>
          </a:xfrm>
          <a:prstGeom prst="chevron">
            <a:avLst>
              <a:gd name="adj" fmla="val 50000"/>
            </a:avLst>
          </a:prstGeom>
          <a:solidFill>
            <a:srgbClr val="00D4FF">
              <a:alpha val="70000"/>
            </a:srgbClr>
          </a:solidFill>
          <a:ln w="0">
            <a:noFill/>
          </a:ln>
        </p:spPr>
        <p:txBody>
          <a:bodyPr/>
          <a:lstStyle/>
          <a:p>
            <a:endParaRPr lang="en-US" sz="100" dirty="0"/>
          </a:p>
        </p:txBody>
      </p:sp>
      <p:sp>
        <p:nvSpPr>
          <p:cNvPr id="637" name="Chev2_1"/>
          <p:cNvSpPr/>
          <p:nvPr/>
        </p:nvSpPr>
        <p:spPr>
          <a:xfrm>
            <a:off x="5905500" y="3403600"/>
            <a:ext cx="228600" cy="177800"/>
          </a:xfrm>
          <a:prstGeom prst="chevron">
            <a:avLst>
              <a:gd name="adj" fmla="val 50000"/>
            </a:avLst>
          </a:prstGeom>
          <a:solidFill>
            <a:srgbClr val="00D4FF">
              <a:alpha val="70000"/>
            </a:srgbClr>
          </a:solidFill>
          <a:ln w="0">
            <a:noFill/>
          </a:ln>
        </p:spPr>
        <p:txBody>
          <a:bodyPr/>
          <a:lstStyle/>
          <a:p>
            <a:endParaRPr lang="en-US" sz="100" dirty="0"/>
          </a:p>
        </p:txBody>
      </p:sp>
      <p:sp>
        <p:nvSpPr>
          <p:cNvPr id="639" name="FlowBar"/>
          <p:cNvSpPr/>
          <p:nvPr/>
        </p:nvSpPr>
        <p:spPr>
          <a:xfrm>
            <a:off x="406400" y="4368800"/>
            <a:ext cx="8331200" cy="4064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6350">
            <a:solidFill>
              <a:srgbClr val="3B82F6">
                <a:alpha val="25000"/>
              </a:srgbClr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Network Traffic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   ▸   Capture   ▸   Decode   ▸   Process   ▸   Detect   ▸   Evaluate   ▸   </a:t>
            </a:r>
            <a:r>
              <a:rPr lang="en-US" sz="1000" b="1" dirty="0">
                <a:solidFill>
                  <a:srgbClr val="10B981"/>
                </a:solidFill>
                <a:latin typeface="Calibri"/>
              </a:rPr>
              <a:t>Alert / Log</a:t>
            </a:r>
          </a:p>
        </p:txBody>
      </p:sp>
      <p:sp>
        <p:nvSpPr>
          <p:cNvPr id="750" name="DChev0"/>
          <p:cNvSpPr/>
          <p:nvPr/>
        </p:nvSpPr>
        <p:spPr>
          <a:xfrm rot="5400000">
            <a:off x="4343400" y="2628900"/>
            <a:ext cx="127000" cy="127000"/>
          </a:xfrm>
          <a:prstGeom prst="chevron">
            <a:avLst>
              <a:gd name="adj" fmla="val 50000"/>
            </a:avLst>
          </a:prstGeom>
          <a:solidFill>
            <a:srgbClr val="00D4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 sz="100" dirty="0"/>
          </a:p>
        </p:txBody>
      </p:sp>
      <p:sp>
        <p:nvSpPr>
          <p:cNvPr id="751" name="DChev1"/>
          <p:cNvSpPr/>
          <p:nvPr/>
        </p:nvSpPr>
        <p:spPr>
          <a:xfrm rot="5400000">
            <a:off x="4521200" y="2628900"/>
            <a:ext cx="127000" cy="127000"/>
          </a:xfrm>
          <a:prstGeom prst="chevron">
            <a:avLst>
              <a:gd name="adj" fmla="val 50000"/>
            </a:avLst>
          </a:prstGeom>
          <a:solidFill>
            <a:srgbClr val="00D4FF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 sz="100" dirty="0"/>
          </a:p>
        </p:txBody>
      </p:sp>
      <p:sp>
        <p:nvSpPr>
          <p:cNvPr id="752" name="DChev2"/>
          <p:cNvSpPr/>
          <p:nvPr/>
        </p:nvSpPr>
        <p:spPr>
          <a:xfrm rot="5400000">
            <a:off x="4699000" y="2628900"/>
            <a:ext cx="127000" cy="127000"/>
          </a:xfrm>
          <a:prstGeom prst="chevron">
            <a:avLst>
              <a:gd name="adj" fmla="val 50000"/>
            </a:avLst>
          </a:prstGeom>
          <a:solidFill>
            <a:srgbClr val="00D4FF">
              <a:alpha val="30000"/>
            </a:srgbClr>
          </a:solidFill>
          <a:ln w="0">
            <a:noFill/>
          </a:ln>
        </p:spPr>
        <p:txBody>
          <a:bodyPr/>
          <a:lstStyle/>
          <a:p>
            <a:endParaRPr lang="en-US" sz="100" dirty="0"/>
          </a:p>
        </p:txBody>
      </p:sp>
    </p:spTree>
    <p:extLst>
      <p:ext uri="{BB962C8B-B14F-4D97-AF65-F5344CB8AC3E}">
        <p14:creationId xmlns:p14="http://schemas.microsoft.com/office/powerpoint/2010/main" val="1392478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" grpId="0" animBg="1"/>
      <p:bldP spid="635" grpId="0" animBg="1"/>
      <p:bldP spid="636" grpId="0" animBg="1"/>
      <p:bldP spid="637" grpId="0" animBg="1"/>
      <p:bldP spid="750" grpId="0" animBg="1"/>
      <p:bldP spid="751" grpId="0" animBg="1"/>
      <p:bldP spid="75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HeaderBar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6203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AccentLine"/>
          <p:cNvSpPr/>
          <p:nvPr/>
        </p:nvSpPr>
        <p:spPr>
          <a:xfrm>
            <a:off x="0" y="533400"/>
            <a:ext cx="9144000" cy="25400"/>
          </a:xfrm>
          <a:prstGeom prst="rect">
            <a:avLst/>
          </a:prstGeom>
          <a:gradFill>
            <a:gsLst>
              <a:gs pos="0">
                <a:srgbClr val="34D399"/>
              </a:gs>
              <a:gs pos="50000">
                <a:srgbClr val="22D3EE"/>
              </a:gs>
              <a:gs pos="100000">
                <a:srgbClr val="A78BF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SectionNum"/>
          <p:cNvSpPr/>
          <p:nvPr/>
        </p:nvSpPr>
        <p:spPr>
          <a:xfrm>
            <a:off x="381000" y="762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spc="250" dirty="0">
                <a:solidFill>
                  <a:srgbClr val="22D3EE"/>
                </a:solidFill>
                <a:latin typeface="Calibri"/>
              </a:rPr>
              <a:t>0</a:t>
            </a:r>
            <a:r>
              <a:rPr lang="ar-IQ" sz="1400" b="1" spc="250" dirty="0">
                <a:solidFill>
                  <a:srgbClr val="22D3EE"/>
                </a:solidFill>
                <a:latin typeface="Calibri"/>
              </a:rPr>
              <a:t>6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  //  PRACTICAL RULE WRITING</a:t>
            </a:r>
          </a:p>
        </p:txBody>
      </p:sp>
      <p:sp>
        <p:nvSpPr>
          <p:cNvPr id="204" name="Breadcrumb"/>
          <p:cNvSpPr/>
          <p:nvPr/>
        </p:nvSpPr>
        <p:spPr>
          <a:xfrm>
            <a:off x="4826000" y="762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</a:rPr>
              <a:t>Understanding Snort Rules</a:t>
            </a:r>
          </a:p>
        </p:txBody>
      </p:sp>
      <p:sp>
        <p:nvSpPr>
          <p:cNvPr id="205" name="Title"/>
          <p:cNvSpPr/>
          <p:nvPr/>
        </p:nvSpPr>
        <p:spPr>
          <a:xfrm>
            <a:off x="381000" y="6350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F1F5F9"/>
                </a:solidFill>
                <a:latin typeface="Calibri"/>
              </a:rPr>
              <a:t>Practical Rule Writing: Case Study</a:t>
            </a:r>
          </a:p>
        </p:txBody>
      </p:sp>
      <p:sp>
        <p:nvSpPr>
          <p:cNvPr id="206" name="Badge"/>
          <p:cNvSpPr/>
          <p:nvPr/>
        </p:nvSpPr>
        <p:spPr>
          <a:xfrm>
            <a:off x="6832600" y="685800"/>
            <a:ext cx="1930400" cy="279400"/>
          </a:xfrm>
          <a:prstGeom prst="roundRect">
            <a:avLst>
              <a:gd name="adj" fmla="val 50000"/>
            </a:avLst>
          </a:prstGeom>
          <a:solidFill>
            <a:srgbClr val="F87171">
              <a:alpha val="25000"/>
            </a:srgbClr>
          </a:solidFill>
          <a:ln w="9525">
            <a:solidFill>
              <a:srgbClr val="F87171"/>
            </a:solidFill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alibri"/>
              </a:rPr>
              <a:t>⚠ WannaCry / MS17-010</a:t>
            </a:r>
          </a:p>
        </p:txBody>
      </p:sp>
      <p:sp>
        <p:nvSpPr>
          <p:cNvPr id="207" name="Tagline"/>
          <p:cNvSpPr/>
          <p:nvPr/>
        </p:nvSpPr>
        <p:spPr>
          <a:xfrm>
            <a:off x="381000" y="97409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50" i="1" dirty="0">
                <a:solidFill>
                  <a:srgbClr val="FB923C"/>
                </a:solidFill>
                <a:latin typeface="Calibri"/>
              </a:rPr>
              <a:t>Scenario: Detect WannaCry SMB Exploit (EternalBlue / MS17-010) lateral movement over port 445</a:t>
            </a:r>
          </a:p>
        </p:txBody>
      </p:sp>
      <p:sp>
        <p:nvSpPr>
          <p:cNvPr id="208" name="CodeCard"/>
          <p:cNvSpPr/>
          <p:nvPr/>
        </p:nvSpPr>
        <p:spPr>
          <a:xfrm>
            <a:off x="381000" y="1174750"/>
            <a:ext cx="8382000" cy="11176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9525">
            <a:solidFill>
              <a:srgbClr val="22D3EE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CodeLbl"/>
          <p:cNvSpPr/>
          <p:nvPr/>
        </p:nvSpPr>
        <p:spPr>
          <a:xfrm>
            <a:off x="381000" y="1174750"/>
            <a:ext cx="1041400" cy="203200"/>
          </a:xfrm>
          <a:prstGeom prst="roundRect">
            <a:avLst>
              <a:gd name="adj" fmla="val 30000"/>
            </a:avLst>
          </a:prstGeom>
          <a:solidFill>
            <a:srgbClr val="22D3EE">
              <a:alpha val="30000"/>
            </a:srgbClr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22D3EE"/>
                </a:solidFill>
                <a:latin typeface="Calibri"/>
              </a:rPr>
              <a:t>SNORT RULE</a:t>
            </a:r>
          </a:p>
        </p:txBody>
      </p:sp>
      <p:sp>
        <p:nvSpPr>
          <p:cNvPr id="210" name="CodeLine1"/>
          <p:cNvSpPr/>
          <p:nvPr/>
        </p:nvSpPr>
        <p:spPr>
          <a:xfrm>
            <a:off x="533400" y="1339850"/>
            <a:ext cx="8077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200" b="1" dirty="0">
                <a:solidFill>
                  <a:srgbClr val="F87171"/>
                </a:solidFill>
                <a:latin typeface="Consolas"/>
              </a:rPr>
              <a:t>alert 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tcp </a:t>
            </a:r>
            <a:r>
              <a:rPr lang="en-US" sz="1200" dirty="0">
                <a:solidFill>
                  <a:srgbClr val="34D399"/>
                </a:solidFill>
                <a:latin typeface="Consolas"/>
              </a:rPr>
              <a:t>$EXTERNAL_NET 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any -&gt; </a:t>
            </a:r>
            <a:r>
              <a:rPr lang="en-US" sz="1200" dirty="0">
                <a:solidFill>
                  <a:srgbClr val="34D399"/>
                </a:solidFill>
                <a:latin typeface="Consolas"/>
              </a:rPr>
              <a:t>$HOME_NET </a:t>
            </a:r>
            <a:r>
              <a:rPr lang="en-US" sz="1200" b="1" dirty="0">
                <a:solidFill>
                  <a:srgbClr val="FB923C"/>
                </a:solidFill>
                <a:latin typeface="Consolas"/>
              </a:rPr>
              <a:t>445</a:t>
            </a:r>
          </a:p>
        </p:txBody>
      </p:sp>
      <p:sp>
        <p:nvSpPr>
          <p:cNvPr id="211" name="CodeLine2"/>
          <p:cNvSpPr/>
          <p:nvPr/>
        </p:nvSpPr>
        <p:spPr>
          <a:xfrm>
            <a:off x="533400" y="156845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dirty="0">
                <a:solidFill>
                  <a:srgbClr val="94A3B8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msg:</a:t>
            </a:r>
            <a:r>
              <a:rPr lang="en-US" sz="1200" dirty="0">
                <a:solidFill>
                  <a:srgbClr val="34D399"/>
                </a:solidFill>
                <a:latin typeface="Consolas"/>
              </a:rPr>
              <a:t>"ET EXPLOIT MS17-010 WannaCry SMB"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; </a:t>
            </a:r>
          </a:p>
          <a:p>
            <a:pPr>
              <a:buNone/>
            </a:pPr>
            <a:r>
              <a:rPr lang="en-US" sz="1200" dirty="0">
                <a:solidFill>
                  <a:srgbClr val="22D3EE"/>
                </a:solidFill>
                <a:latin typeface="Consolas"/>
              </a:rPr>
              <a:t>flow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:to_server,established; </a:t>
            </a:r>
            <a:r>
              <a:rPr lang="en-US" sz="1200" dirty="0">
                <a:solidFill>
                  <a:srgbClr val="22D3EE"/>
                </a:solidFill>
                <a:latin typeface="Consolas"/>
              </a:rPr>
              <a:t>content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:</a:t>
            </a:r>
            <a:r>
              <a:rPr lang="en-US" sz="1200" dirty="0">
                <a:solidFill>
                  <a:srgbClr val="34D399"/>
                </a:solidFill>
                <a:latin typeface="Consolas"/>
              </a:rPr>
              <a:t>"|FF|SMB"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; depth:5;</a:t>
            </a:r>
            <a:br>
              <a:rPr lang="en-US" sz="1200" dirty="0">
                <a:solidFill>
                  <a:srgbClr val="F1F5F9"/>
                </a:solidFill>
                <a:latin typeface="Consolas"/>
              </a:rPr>
            </a:br>
            <a:r>
              <a:rPr lang="en-US" sz="1200" dirty="0">
                <a:solidFill>
                  <a:srgbClr val="22D3EE"/>
                </a:solidFill>
                <a:latin typeface="Consolas"/>
              </a:rPr>
              <a:t>pcre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:</a:t>
            </a:r>
            <a:r>
              <a:rPr lang="en-US" sz="1200" dirty="0">
                <a:solidFill>
                  <a:srgbClr val="A78BFA"/>
                </a:solidFill>
                <a:latin typeface="Consolas"/>
              </a:rPr>
              <a:t>"/\x00Trans2/"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; </a:t>
            </a:r>
            <a:r>
              <a:rPr lang="en-US" sz="1200" dirty="0" err="1">
                <a:solidFill>
                  <a:srgbClr val="22D3EE"/>
                </a:solidFill>
                <a:latin typeface="Consolas"/>
              </a:rPr>
              <a:t>metadata</a:t>
            </a:r>
            <a:r>
              <a:rPr lang="en-US" sz="1200" dirty="0" err="1">
                <a:solidFill>
                  <a:srgbClr val="F1F5F9"/>
                </a:solidFill>
                <a:latin typeface="Consolas"/>
              </a:rPr>
              <a:t>:cve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 2017-0144; </a:t>
            </a:r>
            <a:r>
              <a:rPr lang="en-US" sz="1200" dirty="0" err="1">
                <a:solidFill>
                  <a:srgbClr val="22D3EE"/>
                </a:solidFill>
                <a:latin typeface="Consolas"/>
              </a:rPr>
              <a:t>classtype</a:t>
            </a:r>
            <a:r>
              <a:rPr lang="en-US" sz="1200" dirty="0" err="1">
                <a:solidFill>
                  <a:srgbClr val="F1F5F9"/>
                </a:solidFill>
                <a:latin typeface="Consolas"/>
              </a:rPr>
              <a:t>:attempted-admin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; </a:t>
            </a:r>
            <a:r>
              <a:rPr lang="en-US" sz="1200" dirty="0">
                <a:solidFill>
                  <a:srgbClr val="22D3EE"/>
                </a:solidFill>
                <a:latin typeface="Consolas"/>
              </a:rPr>
              <a:t>sid</a:t>
            </a:r>
            <a:r>
              <a:rPr lang="en-US" sz="1200" dirty="0">
                <a:solidFill>
                  <a:srgbClr val="FB923C"/>
                </a:solidFill>
                <a:latin typeface="Consolas"/>
              </a:rPr>
              <a:t>:2024217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; </a:t>
            </a:r>
            <a:r>
              <a:rPr lang="en-US" sz="1200" dirty="0">
                <a:solidFill>
                  <a:srgbClr val="22D3EE"/>
                </a:solidFill>
                <a:latin typeface="Consolas"/>
              </a:rPr>
              <a:t>rev</a:t>
            </a:r>
            <a:r>
              <a:rPr lang="en-US" sz="1200" dirty="0">
                <a:solidFill>
                  <a:srgbClr val="FB923C"/>
                </a:solidFill>
                <a:latin typeface="Consolas"/>
              </a:rPr>
              <a:t>:5</a:t>
            </a:r>
            <a:r>
              <a:rPr lang="en-US" sz="1200" dirty="0">
                <a:solidFill>
                  <a:srgbClr val="F1F5F9"/>
                </a:solidFill>
                <a:latin typeface="Consolas"/>
              </a:rPr>
              <a:t>;</a:t>
            </a:r>
            <a:r>
              <a:rPr lang="en-US" sz="1200" dirty="0">
                <a:solidFill>
                  <a:srgbClr val="94A3B8"/>
                </a:solidFill>
                <a:latin typeface="Consolas"/>
              </a:rPr>
              <a:t>)</a:t>
            </a:r>
          </a:p>
        </p:txBody>
      </p:sp>
      <p:sp>
        <p:nvSpPr>
          <p:cNvPr id="212" name="DividerLine"/>
          <p:cNvSpPr/>
          <p:nvPr/>
        </p:nvSpPr>
        <p:spPr>
          <a:xfrm>
            <a:off x="381000" y="2413000"/>
            <a:ext cx="8382000" cy="12700"/>
          </a:xfrm>
          <a:prstGeom prst="rect">
            <a:avLst/>
          </a:prstGeom>
          <a:solidFill>
            <a:srgbClr val="22D3EE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DividerLabel"/>
          <p:cNvSpPr/>
          <p:nvPr/>
        </p:nvSpPr>
        <p:spPr>
          <a:xfrm>
            <a:off x="381000" y="2451100"/>
            <a:ext cx="838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 spc="300" dirty="0">
                <a:solidFill>
                  <a:srgbClr val="94A3B8"/>
                </a:solidFill>
                <a:latin typeface="Calibri"/>
              </a:rPr>
              <a:t>RULE BREAKDOWN</a:t>
            </a:r>
          </a:p>
        </p:txBody>
      </p:sp>
      <p:sp>
        <p:nvSpPr>
          <p:cNvPr id="214" name="BC214"/>
          <p:cNvSpPr/>
          <p:nvPr/>
        </p:nvSpPr>
        <p:spPr>
          <a:xfrm>
            <a:off x="381000" y="2654300"/>
            <a:ext cx="4191000" cy="114300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 w="6350">
            <a:solidFill>
              <a:srgbClr val="22D3EE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" name="BH215"/>
          <p:cNvSpPr/>
          <p:nvPr/>
        </p:nvSpPr>
        <p:spPr>
          <a:xfrm>
            <a:off x="381000" y="2654300"/>
            <a:ext cx="4191000" cy="3048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22D3EE">
                  <a:alpha val="70000"/>
                </a:srgbClr>
              </a:gs>
              <a:gs pos="100000">
                <a:srgbClr val="22D3EE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wrap="square" lIns="10800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/>
              </a:rPr>
              <a:t>Flow State Filter</a:t>
            </a:r>
          </a:p>
        </p:txBody>
      </p:sp>
      <p:sp>
        <p:nvSpPr>
          <p:cNvPr id="216" name="BS216"/>
          <p:cNvSpPr/>
          <p:nvPr/>
        </p:nvSpPr>
        <p:spPr>
          <a:xfrm>
            <a:off x="533400" y="2984500"/>
            <a:ext cx="388620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22D3EE">
                <a:alpha val="30000"/>
              </a:srgbClr>
            </a:solidFill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/>
              </a:rPr>
              <a:t>flow:to_server,established</a:t>
            </a:r>
          </a:p>
        </p:txBody>
      </p:sp>
      <p:sp>
        <p:nvSpPr>
          <p:cNvPr id="217" name="BD217"/>
          <p:cNvSpPr/>
          <p:nvPr/>
        </p:nvSpPr>
        <p:spPr>
          <a:xfrm>
            <a:off x="533400" y="32385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94A3B8"/>
                </a:solidFill>
                <a:latin typeface="Calibri"/>
              </a:rPr>
              <a:t>Only inspect established TCP sessions going TO port 445. Eliminates handshake noise — reduces false positives dramatically.</a:t>
            </a:r>
          </a:p>
        </p:txBody>
      </p:sp>
      <p:sp>
        <p:nvSpPr>
          <p:cNvPr id="219" name="BC219"/>
          <p:cNvSpPr/>
          <p:nvPr/>
        </p:nvSpPr>
        <p:spPr>
          <a:xfrm>
            <a:off x="4572000" y="2654300"/>
            <a:ext cx="4191000" cy="114300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 w="6350">
            <a:solidFill>
              <a:srgbClr val="34D399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" name="BH220"/>
          <p:cNvSpPr/>
          <p:nvPr/>
        </p:nvSpPr>
        <p:spPr>
          <a:xfrm>
            <a:off x="4572000" y="2654300"/>
            <a:ext cx="4191000" cy="3048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34D399">
                  <a:alpha val="70000"/>
                </a:srgbClr>
              </a:gs>
              <a:gs pos="100000">
                <a:srgbClr val="34D399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wrap="square" lIns="10800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/>
              </a:rPr>
              <a:t>SMB Magic Bytes</a:t>
            </a:r>
          </a:p>
        </p:txBody>
      </p:sp>
      <p:sp>
        <p:nvSpPr>
          <p:cNvPr id="221" name="BS221"/>
          <p:cNvSpPr/>
          <p:nvPr/>
        </p:nvSpPr>
        <p:spPr>
          <a:xfrm>
            <a:off x="4724400" y="2984500"/>
            <a:ext cx="388620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34D399">
                <a:alpha val="30000"/>
              </a:srgbClr>
            </a:solidFill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34D399"/>
                </a:solidFill>
                <a:latin typeface="Consolas"/>
              </a:rPr>
              <a:t>content:"|FF|SMB"; depth:5</a:t>
            </a:r>
          </a:p>
        </p:txBody>
      </p:sp>
      <p:sp>
        <p:nvSpPr>
          <p:cNvPr id="222" name="BD222"/>
          <p:cNvSpPr/>
          <p:nvPr/>
        </p:nvSpPr>
        <p:spPr>
          <a:xfrm>
            <a:off x="4724400" y="32385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94A3B8"/>
                </a:solidFill>
                <a:latin typeface="Calibri"/>
              </a:rPr>
              <a:t>Hex pattern matching for SMB signature. |FF| is 0xFF. depth:5 limits search to first 5 bytes of payload for performance.</a:t>
            </a:r>
          </a:p>
        </p:txBody>
      </p:sp>
      <p:sp>
        <p:nvSpPr>
          <p:cNvPr id="224" name="BC224"/>
          <p:cNvSpPr/>
          <p:nvPr/>
        </p:nvSpPr>
        <p:spPr>
          <a:xfrm>
            <a:off x="381000" y="3924300"/>
            <a:ext cx="4191000" cy="114300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 w="6350">
            <a:solidFill>
              <a:srgbClr val="A78BFA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5" name="BH225"/>
          <p:cNvSpPr/>
          <p:nvPr/>
        </p:nvSpPr>
        <p:spPr>
          <a:xfrm>
            <a:off x="381000" y="3924300"/>
            <a:ext cx="4191000" cy="3048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A78BFA">
                  <a:alpha val="70000"/>
                </a:srgbClr>
              </a:gs>
              <a:gs pos="100000">
                <a:srgbClr val="A78BFA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wrap="square" lIns="10800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/>
              </a:rPr>
              <a:t>PCRE for Trans2 Request</a:t>
            </a:r>
          </a:p>
        </p:txBody>
      </p:sp>
      <p:sp>
        <p:nvSpPr>
          <p:cNvPr id="226" name="BS226"/>
          <p:cNvSpPr/>
          <p:nvPr/>
        </p:nvSpPr>
        <p:spPr>
          <a:xfrm>
            <a:off x="533400" y="4254500"/>
            <a:ext cx="388620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A78BFA">
                <a:alpha val="30000"/>
              </a:srgbClr>
            </a:solidFill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A78BFA"/>
                </a:solidFill>
                <a:latin typeface="Consolas"/>
              </a:rPr>
              <a:t>pcre:"/\x00Trans2/"</a:t>
            </a:r>
          </a:p>
        </p:txBody>
      </p:sp>
      <p:sp>
        <p:nvSpPr>
          <p:cNvPr id="227" name="BD227"/>
          <p:cNvSpPr/>
          <p:nvPr/>
        </p:nvSpPr>
        <p:spPr>
          <a:xfrm>
            <a:off x="533400" y="45085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94A3B8"/>
                </a:solidFill>
                <a:latin typeface="Calibri"/>
              </a:rPr>
              <a:t>Regex detects the Trans2 sub-command byte used by EternalBlue. Runs AFTER content pre-filter — prevents engine overhead.</a:t>
            </a:r>
          </a:p>
        </p:txBody>
      </p:sp>
      <p:sp>
        <p:nvSpPr>
          <p:cNvPr id="229" name="BC229"/>
          <p:cNvSpPr/>
          <p:nvPr/>
        </p:nvSpPr>
        <p:spPr>
          <a:xfrm>
            <a:off x="4572000" y="3924300"/>
            <a:ext cx="4191000" cy="114300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 w="6350">
            <a:solidFill>
              <a:srgbClr val="FB923C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0" name="BH230"/>
          <p:cNvSpPr/>
          <p:nvPr/>
        </p:nvSpPr>
        <p:spPr>
          <a:xfrm>
            <a:off x="4572000" y="3924300"/>
            <a:ext cx="4191000" cy="3048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B923C">
                  <a:alpha val="70000"/>
                </a:srgbClr>
              </a:gs>
              <a:gs pos="100000">
                <a:srgbClr val="FB923C">
                  <a:alpha val="25000"/>
                </a:srgbClr>
              </a:gs>
            </a:gsLst>
            <a:lin ang="0" scaled="1"/>
          </a:gradFill>
          <a:ln>
            <a:noFill/>
          </a:ln>
        </p:spPr>
        <p:txBody>
          <a:bodyPr wrap="square" lIns="10800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/>
              </a:rPr>
              <a:t>MITRE / CVE Linkage</a:t>
            </a:r>
          </a:p>
        </p:txBody>
      </p:sp>
      <p:sp>
        <p:nvSpPr>
          <p:cNvPr id="231" name="BS231"/>
          <p:cNvSpPr/>
          <p:nvPr/>
        </p:nvSpPr>
        <p:spPr>
          <a:xfrm>
            <a:off x="4724400" y="4254500"/>
            <a:ext cx="3886200" cy="22860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FB923C">
                <a:alpha val="30000"/>
              </a:srgbClr>
            </a:solidFill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B923C"/>
                </a:solidFill>
                <a:latin typeface="Consolas"/>
              </a:rPr>
              <a:t>metadata:cve 2017-0144</a:t>
            </a:r>
          </a:p>
        </p:txBody>
      </p:sp>
      <p:sp>
        <p:nvSpPr>
          <p:cNvPr id="232" name="BD232"/>
          <p:cNvSpPr/>
          <p:nvPr/>
        </p:nvSpPr>
        <p:spPr>
          <a:xfrm>
            <a:off x="4724400" y="45085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94A3B8"/>
                </a:solidFill>
                <a:latin typeface="Calibri"/>
              </a:rPr>
              <a:t>Attaches CVE-2017-0144 to the alert. Enables automated SIEM correlation in Splunk, Elastic, and MISP threat-intel platforms.</a:t>
            </a:r>
          </a:p>
        </p:txBody>
      </p:sp>
    </p:spTree>
    <p:extLst>
      <p:ext uri="{BB962C8B-B14F-4D97-AF65-F5344CB8AC3E}">
        <p14:creationId xmlns:p14="http://schemas.microsoft.com/office/powerpoint/2010/main" val="539887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HeaderBar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6203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HeaderLine"/>
          <p:cNvSpPr/>
          <p:nvPr/>
        </p:nvSpPr>
        <p:spPr>
          <a:xfrm>
            <a:off x="0" y="533400"/>
            <a:ext cx="9144000" cy="19050"/>
          </a:xfrm>
          <a:prstGeom prst="rect">
            <a:avLst/>
          </a:prstGeom>
          <a:gradFill>
            <a:gsLst>
              <a:gs pos="0">
                <a:srgbClr val="34D399"/>
              </a:gs>
              <a:gs pos="50000">
                <a:srgbClr val="22D3EE"/>
              </a:gs>
              <a:gs pos="100000">
                <a:srgbClr val="A78BF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ectionNum"/>
          <p:cNvSpPr/>
          <p:nvPr/>
        </p:nvSpPr>
        <p:spPr>
          <a:xfrm>
            <a:off x="381000" y="762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spc="250" dirty="0">
                <a:solidFill>
                  <a:srgbClr val="22D3EE"/>
                </a:solidFill>
                <a:latin typeface="Calibri"/>
              </a:rPr>
              <a:t>0</a:t>
            </a:r>
            <a:r>
              <a:rPr lang="ar-IQ" sz="1400" b="1" spc="250" dirty="0">
                <a:solidFill>
                  <a:srgbClr val="22D3EE"/>
                </a:solidFill>
                <a:latin typeface="Calibri"/>
              </a:rPr>
              <a:t>7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  //  ADVANCED FEATURES</a:t>
            </a:r>
          </a:p>
        </p:txBody>
      </p:sp>
      <p:sp>
        <p:nvSpPr>
          <p:cNvPr id="104" name="Breadcrumb"/>
          <p:cNvSpPr/>
          <p:nvPr/>
        </p:nvSpPr>
        <p:spPr>
          <a:xfrm>
            <a:off x="4826000" y="762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</a:rPr>
              <a:t>Understanding Snort Rules</a:t>
            </a:r>
          </a:p>
        </p:txBody>
      </p:sp>
      <p:sp>
        <p:nvSpPr>
          <p:cNvPr id="105" name="Title"/>
          <p:cNvSpPr/>
          <p:nvPr/>
        </p:nvSpPr>
        <p:spPr>
          <a:xfrm>
            <a:off x="381000" y="6350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2400" b="1" dirty="0">
                <a:solidFill>
                  <a:srgbClr val="F1F5F9"/>
                </a:solidFill>
                <a:latin typeface="Calibri"/>
              </a:rPr>
              <a:t>Advanced Rule Features</a:t>
            </a:r>
          </a:p>
        </p:txBody>
      </p:sp>
      <p:sp>
        <p:nvSpPr>
          <p:cNvPr id="106" name="Card106"/>
          <p:cNvSpPr/>
          <p:nvPr/>
        </p:nvSpPr>
        <p:spPr>
          <a:xfrm>
            <a:off x="381000" y="1219200"/>
            <a:ext cx="4318000" cy="116840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 w="6350">
            <a:solidFill>
              <a:srgbClr val="1A234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Accent107"/>
          <p:cNvSpPr/>
          <p:nvPr/>
        </p:nvSpPr>
        <p:spPr>
          <a:xfrm>
            <a:off x="381000" y="1320800"/>
            <a:ext cx="38100" cy="965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Title108"/>
          <p:cNvSpPr/>
          <p:nvPr/>
        </p:nvSpPr>
        <p:spPr>
          <a:xfrm>
            <a:off x="558800" y="1320800"/>
            <a:ext cx="401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34D399"/>
                </a:solidFill>
                <a:latin typeface="Calibri"/>
              </a:rPr>
              <a:t>byte_test — Binary Protocol Inspection</a:t>
            </a:r>
          </a:p>
        </p:txBody>
      </p:sp>
      <p:sp>
        <p:nvSpPr>
          <p:cNvPr id="109" name="Code109"/>
          <p:cNvSpPr/>
          <p:nvPr/>
        </p:nvSpPr>
        <p:spPr>
          <a:xfrm>
            <a:off x="558800" y="1600200"/>
            <a:ext cx="4013200" cy="22860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6350">
            <a:solidFill>
              <a:srgbClr val="34D399">
                <a:alpha val="30000"/>
              </a:srgbClr>
            </a:solidFill>
          </a:ln>
        </p:spPr>
        <p:txBody>
          <a:bodyPr wrap="square" lIns="72000" tIns="18000" rIns="72000" bIns="18000" anchor="ctr"/>
          <a:lstStyle/>
          <a:p>
            <a:pPr>
              <a:buNone/>
            </a:pPr>
            <a:r>
              <a:rPr lang="en-US" sz="1050" dirty="0">
                <a:solidFill>
                  <a:srgbClr val="34D399"/>
                </a:solidFill>
                <a:latin typeface="Consolas"/>
              </a:rPr>
              <a:t>byte_test:4,&gt;,0x1000,0,relative;</a:t>
            </a:r>
          </a:p>
        </p:txBody>
      </p:sp>
      <p:sp>
        <p:nvSpPr>
          <p:cNvPr id="110" name="Desc110"/>
          <p:cNvSpPr/>
          <p:nvPr/>
        </p:nvSpPr>
        <p:spPr>
          <a:xfrm>
            <a:off x="558800" y="1879600"/>
            <a:ext cx="401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94A3B8"/>
                </a:solidFill>
                <a:latin typeface="Calibri"/>
              </a:rPr>
              <a:t>Extracts N bytes from a payload offset and compares as integer. Essential for detecting malformed protocol headers in C2 channels and buffer overflows.</a:t>
            </a:r>
          </a:p>
        </p:txBody>
      </p:sp>
      <p:sp>
        <p:nvSpPr>
          <p:cNvPr id="111" name="Card111"/>
          <p:cNvSpPr/>
          <p:nvPr/>
        </p:nvSpPr>
        <p:spPr>
          <a:xfrm>
            <a:off x="381000" y="2489200"/>
            <a:ext cx="4318000" cy="116840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 w="6350">
            <a:solidFill>
              <a:srgbClr val="1A234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Accent112"/>
          <p:cNvSpPr/>
          <p:nvPr/>
        </p:nvSpPr>
        <p:spPr>
          <a:xfrm>
            <a:off x="381000" y="2590800"/>
            <a:ext cx="38100" cy="965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CardTitle113"/>
          <p:cNvSpPr/>
          <p:nvPr/>
        </p:nvSpPr>
        <p:spPr>
          <a:xfrm>
            <a:off x="558800" y="2590800"/>
            <a:ext cx="401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22D3EE"/>
                </a:solidFill>
                <a:latin typeface="Calibri"/>
              </a:rPr>
              <a:t>isdataat — Payload Existence Check</a:t>
            </a:r>
          </a:p>
        </p:txBody>
      </p:sp>
      <p:sp>
        <p:nvSpPr>
          <p:cNvPr id="114" name="Code114"/>
          <p:cNvSpPr/>
          <p:nvPr/>
        </p:nvSpPr>
        <p:spPr>
          <a:xfrm>
            <a:off x="558800" y="2870200"/>
            <a:ext cx="4013200" cy="22860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6350">
            <a:solidFill>
              <a:srgbClr val="22D3EE">
                <a:alpha val="30000"/>
              </a:srgbClr>
            </a:solidFill>
          </a:ln>
        </p:spPr>
        <p:txBody>
          <a:bodyPr wrap="square" lIns="72000" tIns="18000" rIns="72000" bIns="18000" anchor="ctr"/>
          <a:lstStyle/>
          <a:p>
            <a:pPr>
              <a:buNone/>
            </a:pPr>
            <a:r>
              <a:rPr lang="en-US" sz="1050" dirty="0">
                <a:solidFill>
                  <a:srgbClr val="22D3EE"/>
                </a:solidFill>
                <a:latin typeface="Consolas"/>
              </a:rPr>
              <a:t>isdataat:512,relative;</a:t>
            </a:r>
          </a:p>
        </p:txBody>
      </p:sp>
      <p:sp>
        <p:nvSpPr>
          <p:cNvPr id="115" name="Desc115"/>
          <p:cNvSpPr/>
          <p:nvPr/>
        </p:nvSpPr>
        <p:spPr>
          <a:xfrm>
            <a:off x="558800" y="3149600"/>
            <a:ext cx="401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94A3B8"/>
                </a:solidFill>
                <a:latin typeface="Calibri"/>
              </a:rPr>
              <a:t>Tests whether data exists at a byte offset. Detects unusually long fields indicating buffer overflow attempts. Pairs with content + distance for chained detection.</a:t>
            </a:r>
          </a:p>
        </p:txBody>
      </p:sp>
      <p:sp>
        <p:nvSpPr>
          <p:cNvPr id="116" name="Card116"/>
          <p:cNvSpPr/>
          <p:nvPr/>
        </p:nvSpPr>
        <p:spPr>
          <a:xfrm>
            <a:off x="381000" y="3759200"/>
            <a:ext cx="4318000" cy="116840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 w="6350">
            <a:solidFill>
              <a:srgbClr val="1A234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Accent117"/>
          <p:cNvSpPr/>
          <p:nvPr/>
        </p:nvSpPr>
        <p:spPr>
          <a:xfrm>
            <a:off x="381000" y="3860800"/>
            <a:ext cx="38100" cy="9652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CardTitle118"/>
          <p:cNvSpPr/>
          <p:nvPr/>
        </p:nvSpPr>
        <p:spPr>
          <a:xfrm>
            <a:off x="558800" y="3860800"/>
            <a:ext cx="4013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FB923C"/>
                </a:solidFill>
                <a:latin typeface="Calibri"/>
              </a:rPr>
              <a:t>urilen — URL Length Anomaly Detection</a:t>
            </a:r>
          </a:p>
        </p:txBody>
      </p:sp>
      <p:sp>
        <p:nvSpPr>
          <p:cNvPr id="119" name="Code119"/>
          <p:cNvSpPr/>
          <p:nvPr/>
        </p:nvSpPr>
        <p:spPr>
          <a:xfrm>
            <a:off x="558800" y="4140200"/>
            <a:ext cx="4013200" cy="22860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6350">
            <a:solidFill>
              <a:srgbClr val="FB923C">
                <a:alpha val="30000"/>
              </a:srgbClr>
            </a:solidFill>
          </a:ln>
        </p:spPr>
        <p:txBody>
          <a:bodyPr wrap="square" lIns="72000" tIns="18000" rIns="72000" bIns="18000" anchor="ctr"/>
          <a:lstStyle/>
          <a:p>
            <a:pPr>
              <a:buNone/>
            </a:pPr>
            <a:r>
              <a:rPr lang="en-US" sz="1050" dirty="0">
                <a:solidFill>
                  <a:srgbClr val="FB923C"/>
                </a:solidFill>
                <a:latin typeface="Consolas"/>
              </a:rPr>
              <a:t>urilen:&gt;500;</a:t>
            </a:r>
          </a:p>
        </p:txBody>
      </p:sp>
      <p:sp>
        <p:nvSpPr>
          <p:cNvPr id="120" name="Desc120"/>
          <p:cNvSpPr/>
          <p:nvPr/>
        </p:nvSpPr>
        <p:spPr>
          <a:xfrm>
            <a:off x="558800" y="4419600"/>
            <a:ext cx="401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94A3B8"/>
                </a:solidFill>
                <a:latin typeface="Calibri"/>
              </a:rPr>
              <a:t>Fires when URL length exceeds a threshold. Detects SQL injection (UNION SELECT chains), XSS payloads, and path traversal attacks against web apps.</a:t>
            </a:r>
          </a:p>
        </p:txBody>
      </p:sp>
      <p:sp>
        <p:nvSpPr>
          <p:cNvPr id="121" name="PCRECard"/>
          <p:cNvSpPr/>
          <p:nvPr/>
        </p:nvSpPr>
        <p:spPr>
          <a:xfrm>
            <a:off x="4927600" y="1219200"/>
            <a:ext cx="3835400" cy="2222500"/>
          </a:xfrm>
          <a:prstGeom prst="roundRect">
            <a:avLst>
              <a:gd name="adj" fmla="val 4000"/>
            </a:avLst>
          </a:prstGeom>
          <a:solidFill>
            <a:srgbClr val="1A2340"/>
          </a:solidFill>
          <a:ln w="6350">
            <a:solidFill>
              <a:srgbClr val="A78BFA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PCREHeader"/>
          <p:cNvSpPr/>
          <p:nvPr/>
        </p:nvSpPr>
        <p:spPr>
          <a:xfrm>
            <a:off x="4927600" y="1219200"/>
            <a:ext cx="3835400" cy="3302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A78BFA">
                  <a:alpha val="80000"/>
                </a:srgbClr>
              </a:gs>
              <a:gs pos="100000">
                <a:srgbClr val="A78BFA">
                  <a:alpha val="40000"/>
                </a:srgbClr>
              </a:gs>
            </a:gsLst>
            <a:lin ang="0" scaled="1"/>
          </a:gradFill>
          <a:ln>
            <a:noFill/>
          </a:ln>
        </p:spPr>
        <p:txBody>
          <a:bodyPr wrap="square" lIns="10800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/>
              </a:rPr>
              <a:t>PCRE Cheat Sheet</a:t>
            </a:r>
          </a:p>
        </p:txBody>
      </p:sp>
      <p:sp>
        <p:nvSpPr>
          <p:cNvPr id="123" name="PCREContent"/>
          <p:cNvSpPr/>
          <p:nvPr/>
        </p:nvSpPr>
        <p:spPr>
          <a:xfrm>
            <a:off x="5054600" y="1600200"/>
            <a:ext cx="3581400" cy="1739900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0" anchor="t"/>
          <a:lstStyle/>
          <a:p>
            <a:pPr marL="180000" indent="-180000">
              <a:spcAft>
                <a:spcPts val="350"/>
              </a:spcAft>
              <a:buFont typeface="Arial"/>
              <a:buChar char="▸"/>
            </a:pPr>
            <a:r>
              <a:rPr lang="en-US" sz="1000" dirty="0">
                <a:solidFill>
                  <a:srgbClr val="34D399"/>
                </a:solidFill>
                <a:latin typeface="Consolas"/>
              </a:rPr>
              <a:t>/cmd\.exe/i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  – case-insensitive</a:t>
            </a:r>
          </a:p>
          <a:p>
            <a:pPr marL="180000" indent="-180000">
              <a:spcAft>
                <a:spcPts val="350"/>
              </a:spcAft>
              <a:buFont typeface="Arial"/>
              <a:buChar char="▸"/>
            </a:pPr>
            <a:r>
              <a:rPr lang="en-US" sz="1000" dirty="0">
                <a:solidFill>
                  <a:srgbClr val="22D3EE"/>
                </a:solidFill>
                <a:latin typeface="Consolas"/>
              </a:rPr>
              <a:t>/[\x41-\x5A]{50,}/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  – long caps</a:t>
            </a:r>
          </a:p>
          <a:p>
            <a:pPr marL="180000" indent="-180000">
              <a:spcAft>
                <a:spcPts val="350"/>
              </a:spcAft>
              <a:buFont typeface="Arial"/>
              <a:buChar char="▸"/>
            </a:pPr>
            <a:r>
              <a:rPr lang="en-US" sz="1000" dirty="0">
                <a:solidFill>
                  <a:srgbClr val="34D399"/>
                </a:solidFill>
                <a:latin typeface="Consolas"/>
              </a:rPr>
              <a:t>/(?:UNION|SELECT)/i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  – SQL injection</a:t>
            </a:r>
          </a:p>
          <a:p>
            <a:pPr marL="180000" indent="-180000">
              <a:spcAft>
                <a:spcPts val="350"/>
              </a:spcAft>
              <a:buFont typeface="Arial"/>
              <a:buChar char="▸"/>
            </a:pPr>
            <a:r>
              <a:rPr lang="en-US" sz="1000" dirty="0">
                <a:solidFill>
                  <a:srgbClr val="22D3EE"/>
                </a:solidFill>
                <a:latin typeface="Consolas"/>
              </a:rPr>
              <a:t>/^GET\/[^\/]{200,}/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  – long URI</a:t>
            </a:r>
          </a:p>
          <a:p>
            <a:pPr marL="180000" indent="-180000">
              <a:spcAft>
                <a:spcPts val="350"/>
              </a:spcAft>
              <a:buFont typeface="Arial"/>
              <a:buChar char="▸"/>
            </a:pPr>
            <a:r>
              <a:rPr lang="en-US" sz="1000" dirty="0">
                <a:solidFill>
                  <a:srgbClr val="34D399"/>
                </a:solidFill>
                <a:latin typeface="Consolas"/>
              </a:rPr>
              <a:t>/\x4D\x5A.{0,512}\x50\x45/s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  – PE header</a:t>
            </a:r>
          </a:p>
        </p:txBody>
      </p:sp>
      <p:sp>
        <p:nvSpPr>
          <p:cNvPr id="124" name="ThreshCard"/>
          <p:cNvSpPr/>
          <p:nvPr/>
        </p:nvSpPr>
        <p:spPr>
          <a:xfrm>
            <a:off x="4927600" y="3543300"/>
            <a:ext cx="3835400" cy="129540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 w="6350">
            <a:solidFill>
              <a:srgbClr val="FB923C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hreshHeader"/>
          <p:cNvSpPr/>
          <p:nvPr/>
        </p:nvSpPr>
        <p:spPr>
          <a:xfrm>
            <a:off x="4927600" y="3543300"/>
            <a:ext cx="3835400" cy="3302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B923C">
                  <a:alpha val="80000"/>
                </a:srgbClr>
              </a:gs>
              <a:gs pos="100000">
                <a:srgbClr val="FB923C">
                  <a:alpha val="40000"/>
                </a:srgbClr>
              </a:gs>
            </a:gsLst>
            <a:lin ang="0" scaled="1"/>
          </a:gradFill>
          <a:ln>
            <a:noFill/>
          </a:ln>
        </p:spPr>
        <p:txBody>
          <a:bodyPr wrap="square" lIns="10800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/>
              </a:rPr>
              <a:t>Threshold Tuning</a:t>
            </a:r>
          </a:p>
        </p:txBody>
      </p:sp>
      <p:sp>
        <p:nvSpPr>
          <p:cNvPr id="126" name="ThreshContent"/>
          <p:cNvSpPr/>
          <p:nvPr/>
        </p:nvSpPr>
        <p:spPr>
          <a:xfrm>
            <a:off x="5054600" y="3924300"/>
            <a:ext cx="3581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0" anchor="t"/>
          <a:lstStyle/>
          <a:p>
            <a:pPr>
              <a:spcAft>
                <a:spcPts val="500"/>
              </a:spcAft>
              <a:buNone/>
            </a:pPr>
            <a:r>
              <a:rPr lang="en-US" sz="1000" dirty="0">
                <a:solidFill>
                  <a:srgbClr val="FB923C"/>
                </a:solidFill>
                <a:latin typeface="Consolas"/>
              </a:rPr>
              <a:t>threshold: type both, track by_src, count 10, seconds 60;</a:t>
            </a:r>
          </a:p>
          <a:p>
            <a:pPr>
              <a:buNone/>
            </a:pPr>
            <a:r>
              <a:rPr lang="en-US" sz="1050" dirty="0">
                <a:solidFill>
                  <a:srgbClr val="94A3B8"/>
                </a:solidFill>
                <a:latin typeface="Calibri"/>
              </a:rPr>
              <a:t>Fire alert once per src IP per minute only after 10 matches — prevents brute-force alert floods while catching scans.</a:t>
            </a:r>
          </a:p>
        </p:txBody>
      </p:sp>
    </p:spTree>
    <p:extLst>
      <p:ext uri="{BB962C8B-B14F-4D97-AF65-F5344CB8AC3E}">
        <p14:creationId xmlns:p14="http://schemas.microsoft.com/office/powerpoint/2010/main" val="2641114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ar-IQ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 FORENSICS &amp; MALWARE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Snort Rules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in Digital Forensics &amp; Malware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148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1480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Applications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640080" y="1755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Reconstruction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Unified2 log format feeds Wireshark, tcpdump, and NetworkMiner. Log all packets related to an alert for full session replay. Critical for post-breach timeline reconstruction.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54864" cy="59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Beacon Detection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15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outbound connections with consistent timing intervals (dsize:0, flow:established,to_server) fingerprint malware heartbeats — Cobalt Strike, Metasploit, and RATs use predictable patterns.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640080" y="3255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 Indicators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65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anomalous outbound volumes using byte counters. Rules targeting DNS over TCP, unusually large ICMP payloads, or FTP transfers to unknown external IPs.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54864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153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Cross-host SMB/RDP/WMI anomalies. Writing Snort rules that trigger on internal traffic (HOME_NET → HOME_NET) catches worm propagation and pass-the-hash attacks.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389888"/>
            <a:ext cx="402336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4754880" y="1389888"/>
            <a:ext cx="40233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754880" y="1389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Family → Snort Signature Mapping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764792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828032" y="18013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WannaCry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28032" y="20116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SMB/445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42432" y="1801368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EternalBlue exploit byte pattern matching in Trans2 SMB sub-commands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258568"/>
            <a:ext cx="402336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828032" y="22951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 Botnet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28032" y="25054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Telnet/23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742432" y="229514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login strings + 'busybox' payload; threshold on failed auths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2752344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4828032" y="27889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29992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HTTP/443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742432" y="278892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User-Agent strings + encoded POST body patterns; PCRE on binary blobs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246120"/>
            <a:ext cx="402336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4828032" y="32826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Strike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34930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HTTP/S C2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742432" y="3282696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malleable C2 profile headers; Beacon URI regex patterns match /jquery-3.3.1.min.js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3739896"/>
            <a:ext cx="4023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4828032" y="37764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Dridex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8032" y="39867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HTTPS/P2P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742432" y="3776472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DGA domain characteristics; binary format of HTTPS POST payloads with byte_test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4233672"/>
            <a:ext cx="402336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4828032" y="42702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BlackMatter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4480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SMB/RDP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742432" y="4270248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channel detection via dsize anomalies + flow state + timing threshold rules</a:t>
            </a:r>
            <a:endParaRPr lang="en-US" sz="800" dirty="0"/>
          </a:p>
        </p:txBody>
      </p:sp>
      <p:sp>
        <p:nvSpPr>
          <p:cNvPr id="48" name="HeaderLine">
            <a:extLst>
              <a:ext uri="{FF2B5EF4-FFF2-40B4-BE49-F238E27FC236}">
                <a16:creationId xmlns:a16="http://schemas.microsoft.com/office/drawing/2014/main" id="{5678DB56-A758-FC20-0D96-3CD7EC10D6A8}"/>
              </a:ext>
            </a:extLst>
          </p:cNvPr>
          <p:cNvSpPr/>
          <p:nvPr/>
        </p:nvSpPr>
        <p:spPr>
          <a:xfrm>
            <a:off x="0" y="646616"/>
            <a:ext cx="9144000" cy="19050"/>
          </a:xfrm>
          <a:prstGeom prst="rect">
            <a:avLst/>
          </a:prstGeom>
          <a:gradFill>
            <a:gsLst>
              <a:gs pos="0">
                <a:srgbClr val="34D399"/>
              </a:gs>
              <a:gs pos="50000">
                <a:srgbClr val="22D3EE"/>
              </a:gs>
              <a:gs pos="100000">
                <a:srgbClr val="A78BF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ar-IQ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 BEST PRACTICES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Snort Rules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Writing Methodology &amp; Best Practices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Specific, Not Broad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81965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flow:, proto, and dsize filters before content/pcre. Broad rules create alert fatigue and miss real threats hidden in the noise.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43200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273552" y="14173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1417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Snort Variables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181965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$HOME_NET, $EXTERNAL_NET, $HTTP_SERVERS — always prefer variables over hardcoded IPs. They adapt to environment changes without rule rewrites.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6199632" y="14173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1417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Your Patterns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181965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depth:, offset:, distance:, within: to constrain where pattern matching occurs. Unanchored content rules are slow and generate false positives.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274320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347472" y="3200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Before Deploying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360273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tcpreplay to replay PCAP files against your rules in test mode (snort -A console -r test.pcap). Never push untested rules to production IPS.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27432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3273552" y="3200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03320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Talos Intelligence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360273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Talos (ET Open rules, Snort community rules) provides production-quality signatures. Study their methodology — read SIDs 2000000+ for real-world patterns.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20040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6126480" y="3200400"/>
            <a:ext cx="2743200" cy="3474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6199632" y="3200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Version Control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3602736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increment rev:, use metadata: for CVE/MITRE ATT&amp;CK tags, and maintain rules in Git. Correlate rule changes to threat intelligence updates.</a:t>
            </a:r>
            <a:endParaRPr lang="en-US" sz="950" dirty="0"/>
          </a:p>
        </p:txBody>
      </p:sp>
      <p:sp>
        <p:nvSpPr>
          <p:cNvPr id="36" name="HeaderLine">
            <a:extLst>
              <a:ext uri="{FF2B5EF4-FFF2-40B4-BE49-F238E27FC236}">
                <a16:creationId xmlns:a16="http://schemas.microsoft.com/office/drawing/2014/main" id="{775EC631-74F2-74FA-A901-C776F5DE95D4}"/>
              </a:ext>
            </a:extLst>
          </p:cNvPr>
          <p:cNvSpPr/>
          <p:nvPr/>
        </p:nvSpPr>
        <p:spPr>
          <a:xfrm>
            <a:off x="0" y="646616"/>
            <a:ext cx="9144000" cy="19050"/>
          </a:xfrm>
          <a:prstGeom prst="rect">
            <a:avLst/>
          </a:prstGeom>
          <a:gradFill>
            <a:gsLst>
              <a:gs pos="0">
                <a:srgbClr val="34D399"/>
              </a:gs>
              <a:gs pos="50000">
                <a:srgbClr val="22D3EE"/>
              </a:gs>
              <a:gs pos="100000">
                <a:srgbClr val="A78BF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1597D-0A32-F04F-42C0-FB8C0E41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E88951-6DF6-C593-9A3A-907A7983A75C}"/>
              </a:ext>
            </a:extLst>
          </p:cNvPr>
          <p:cNvSpPr txBox="1"/>
          <p:nvPr/>
        </p:nvSpPr>
        <p:spPr>
          <a:xfrm>
            <a:off x="2760785" y="2217807"/>
            <a:ext cx="3622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ptos Black" panose="020B0004020202020204" pitchFamily="34" charset="0"/>
              </a:rPr>
              <a:t>LAB</a:t>
            </a:r>
            <a:endParaRPr lang="en-AE" sz="40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90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182DA-4CC8-7CBE-D22D-D3081EE7E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56C7B76-FF1D-DEAA-E4D7-7056830D0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894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AF337-DEAB-4D6B-AAF6-E7AA7EDF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8F677-F383-5322-BFA2-6869C151CB37}"/>
              </a:ext>
            </a:extLst>
          </p:cNvPr>
          <p:cNvSpPr txBox="1"/>
          <p:nvPr/>
        </p:nvSpPr>
        <p:spPr>
          <a:xfrm>
            <a:off x="3239975" y="170152"/>
            <a:ext cx="3146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 Black" panose="020B0004020202020204" pitchFamily="34" charset="0"/>
              </a:rPr>
              <a:t>LAB Requirements</a:t>
            </a:r>
            <a:r>
              <a:rPr lang="en-US" sz="3600" b="1" dirty="0">
                <a:solidFill>
                  <a:schemeClr val="bg1"/>
                </a:solidFill>
                <a:latin typeface="Aptos Black" panose="020B0004020202020204" pitchFamily="34" charset="0"/>
              </a:rPr>
              <a:t> </a:t>
            </a:r>
            <a:endParaRPr lang="en-AE" sz="36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62F853-445E-FE66-4BD1-6158AAF74E4E}"/>
              </a:ext>
            </a:extLst>
          </p:cNvPr>
          <p:cNvGrpSpPr/>
          <p:nvPr/>
        </p:nvGrpSpPr>
        <p:grpSpPr>
          <a:xfrm>
            <a:off x="6355557" y="1332652"/>
            <a:ext cx="2950029" cy="2275333"/>
            <a:chOff x="6355557" y="1332652"/>
            <a:chExt cx="2950029" cy="22753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322572-0A7A-F1F0-FBB5-67A002F4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0968" y="1332652"/>
              <a:ext cx="1848605" cy="184860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C97C5D-C1BF-964D-3530-D1CD15EBC826}"/>
                </a:ext>
              </a:extLst>
            </p:cNvPr>
            <p:cNvSpPr txBox="1"/>
            <p:nvPr/>
          </p:nvSpPr>
          <p:spPr>
            <a:xfrm>
              <a:off x="6355557" y="3207875"/>
              <a:ext cx="295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Metasploitable 2 </a:t>
              </a:r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46A100-93D2-3253-D498-F06F219C6B4D}"/>
              </a:ext>
            </a:extLst>
          </p:cNvPr>
          <p:cNvGrpSpPr/>
          <p:nvPr/>
        </p:nvGrpSpPr>
        <p:grpSpPr>
          <a:xfrm>
            <a:off x="3344119" y="1332652"/>
            <a:ext cx="2950029" cy="2275333"/>
            <a:chOff x="3344119" y="1332652"/>
            <a:chExt cx="2950029" cy="227533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CC36779-5783-6752-B535-698C056A6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0426" y="1332652"/>
              <a:ext cx="1848605" cy="184860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1300F7B-F46E-D413-2C8C-D301B5D4C55F}"/>
                </a:ext>
              </a:extLst>
            </p:cNvPr>
            <p:cNvSpPr txBox="1"/>
            <p:nvPr/>
          </p:nvSpPr>
          <p:spPr>
            <a:xfrm>
              <a:off x="3344119" y="3207875"/>
              <a:ext cx="295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Ubuntu</a:t>
              </a:r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6DC6A1A-A639-12F0-675D-7B58142A3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" y="3707697"/>
            <a:ext cx="2733759" cy="1308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4EA0F3-2D19-D6B9-024A-65811526A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068" y="3580976"/>
            <a:ext cx="2477672" cy="1350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6BEBDD-EB6F-F25F-DEA1-027803C1C42B}"/>
              </a:ext>
            </a:extLst>
          </p:cNvPr>
          <p:cNvCxnSpPr/>
          <p:nvPr/>
        </p:nvCxnSpPr>
        <p:spPr>
          <a:xfrm>
            <a:off x="6478172" y="0"/>
            <a:ext cx="0" cy="51435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CF4ECD-0892-FB6F-8C9D-9AA2ECDE4FBA}"/>
              </a:ext>
            </a:extLst>
          </p:cNvPr>
          <p:cNvCxnSpPr/>
          <p:nvPr/>
        </p:nvCxnSpPr>
        <p:spPr>
          <a:xfrm>
            <a:off x="3086555" y="0"/>
            <a:ext cx="0" cy="51435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8102D6-3486-8614-564F-1AF333A92363}"/>
              </a:ext>
            </a:extLst>
          </p:cNvPr>
          <p:cNvGrpSpPr/>
          <p:nvPr/>
        </p:nvGrpSpPr>
        <p:grpSpPr>
          <a:xfrm>
            <a:off x="229788" y="993788"/>
            <a:ext cx="2488909" cy="2525549"/>
            <a:chOff x="42240" y="1081659"/>
            <a:chExt cx="2488909" cy="2525549"/>
          </a:xfrm>
        </p:grpSpPr>
        <p:pic>
          <p:nvPicPr>
            <p:cNvPr id="7" name="Google Shape;215;p27">
              <a:extLst>
                <a:ext uri="{FF2B5EF4-FFF2-40B4-BE49-F238E27FC236}">
                  <a16:creationId xmlns:a16="http://schemas.microsoft.com/office/drawing/2014/main" id="{3EDA996C-3BA8-349F-2E5F-26B7BED3426D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3300" r="13300"/>
            <a:stretch/>
          </p:blipFill>
          <p:spPr>
            <a:xfrm>
              <a:off x="133716" y="1081659"/>
              <a:ext cx="2238618" cy="22755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D688FE-0649-6609-BB19-4627E4EA97A3}"/>
                </a:ext>
              </a:extLst>
            </p:cNvPr>
            <p:cNvSpPr txBox="1"/>
            <p:nvPr/>
          </p:nvSpPr>
          <p:spPr>
            <a:xfrm>
              <a:off x="42240" y="3207098"/>
              <a:ext cx="2488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Kali</a:t>
              </a:r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DD3ED7E-FA8D-30C7-3C4F-75115EDB17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888" y="3427913"/>
            <a:ext cx="1656456" cy="1656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5849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E1257-83DB-662C-188A-C077EE90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BF82983-3100-0CF2-8594-60818D308727}"/>
              </a:ext>
            </a:extLst>
          </p:cNvPr>
          <p:cNvGrpSpPr/>
          <p:nvPr/>
        </p:nvGrpSpPr>
        <p:grpSpPr>
          <a:xfrm>
            <a:off x="5901397" y="1645187"/>
            <a:ext cx="3142984" cy="3194012"/>
            <a:chOff x="5901397" y="1353863"/>
            <a:chExt cx="3142984" cy="31940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CD61A8-42DA-CA70-AF53-364651684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1397" y="1353863"/>
              <a:ext cx="2998602" cy="280752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39697B-1DC6-8BE6-B546-8B85D9CE0362}"/>
                </a:ext>
              </a:extLst>
            </p:cNvPr>
            <p:cNvSpPr txBox="1"/>
            <p:nvPr/>
          </p:nvSpPr>
          <p:spPr>
            <a:xfrm>
              <a:off x="6094352" y="4147765"/>
              <a:ext cx="295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Ubuntu</a:t>
              </a:r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D4E6C96-E22C-A5D9-2961-C24B3A5E3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29" y="654895"/>
            <a:ext cx="1046244" cy="10462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FED7D6-BA34-AF1D-5502-7A8C813FDF79}"/>
              </a:ext>
            </a:extLst>
          </p:cNvPr>
          <p:cNvSpPr txBox="1"/>
          <p:nvPr/>
        </p:nvSpPr>
        <p:spPr>
          <a:xfrm>
            <a:off x="0" y="230975"/>
            <a:ext cx="143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IDS_Setup.sh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70F5846-9AC8-5A54-FB6D-253D3E438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559" y="334410"/>
            <a:ext cx="3960055" cy="21089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E4F0A5C-94DA-FA99-0B0C-7801F8B739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03" y="2528645"/>
            <a:ext cx="5153812" cy="16806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47F288-7287-0C6F-FE85-5E384B3291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767" y="4294671"/>
            <a:ext cx="6116404" cy="747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F0E91EE-582D-3913-5252-49F051E242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7160" y="667041"/>
            <a:ext cx="1990020" cy="1084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6646AD1-F8BB-4832-54FE-CB53B9C078B1}"/>
              </a:ext>
            </a:extLst>
          </p:cNvPr>
          <p:cNvSpPr/>
          <p:nvPr/>
        </p:nvSpPr>
        <p:spPr>
          <a:xfrm>
            <a:off x="6311038" y="212379"/>
            <a:ext cx="2179320" cy="3693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  <a:latin typeface="Algerian" panose="04020705040A02060702" pitchFamily="82" charset="0"/>
              </a:rPr>
              <a:t>IP: 192.168.1.109</a:t>
            </a:r>
            <a:endParaRPr lang="en-AE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383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50D85-DFC8-C550-C90E-C78661CAD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7B83E7-FF94-0668-9BBB-07239DCEC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322" y="3707697"/>
            <a:ext cx="2733759" cy="1308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CB5B6E-2FDD-7283-617A-84E920466C8F}"/>
              </a:ext>
            </a:extLst>
          </p:cNvPr>
          <p:cNvGrpSpPr/>
          <p:nvPr/>
        </p:nvGrpSpPr>
        <p:grpSpPr>
          <a:xfrm>
            <a:off x="6227109" y="645083"/>
            <a:ext cx="3028187" cy="2794851"/>
            <a:chOff x="42240" y="1081659"/>
            <a:chExt cx="2488909" cy="2525549"/>
          </a:xfrm>
        </p:grpSpPr>
        <p:pic>
          <p:nvPicPr>
            <p:cNvPr id="4" name="Google Shape;215;p27">
              <a:extLst>
                <a:ext uri="{FF2B5EF4-FFF2-40B4-BE49-F238E27FC236}">
                  <a16:creationId xmlns:a16="http://schemas.microsoft.com/office/drawing/2014/main" id="{DA2369E3-B35A-8053-B364-25A37AB0C9B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3300" r="13300"/>
            <a:stretch/>
          </p:blipFill>
          <p:spPr>
            <a:xfrm>
              <a:off x="133716" y="1081659"/>
              <a:ext cx="2238618" cy="22755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68C15F-27E6-7466-319D-7C96F8871885}"/>
                </a:ext>
              </a:extLst>
            </p:cNvPr>
            <p:cNvSpPr txBox="1"/>
            <p:nvPr/>
          </p:nvSpPr>
          <p:spPr>
            <a:xfrm>
              <a:off x="42240" y="3207098"/>
              <a:ext cx="2488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Kali</a:t>
              </a:r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1DBDA1-0F43-0BA5-7A78-E25FD16ADDE0}"/>
              </a:ext>
            </a:extLst>
          </p:cNvPr>
          <p:cNvSpPr/>
          <p:nvPr/>
        </p:nvSpPr>
        <p:spPr>
          <a:xfrm>
            <a:off x="6610577" y="212379"/>
            <a:ext cx="2179320" cy="3693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  <a:latin typeface="Algerian" panose="04020705040A02060702" pitchFamily="82" charset="0"/>
              </a:rPr>
              <a:t>IP: 192.168.1.106</a:t>
            </a:r>
            <a:endParaRPr lang="en-AE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E1B00-E6D1-B61C-5719-45403596F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3" y="697032"/>
            <a:ext cx="6259091" cy="3749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1747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97381-6FC7-F76E-AED9-319E2667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8FDAFA5-273B-4E76-9164-175A7369F2CC}"/>
              </a:ext>
            </a:extLst>
          </p:cNvPr>
          <p:cNvGrpSpPr/>
          <p:nvPr/>
        </p:nvGrpSpPr>
        <p:grpSpPr>
          <a:xfrm>
            <a:off x="5901397" y="1737109"/>
            <a:ext cx="3142984" cy="3194012"/>
            <a:chOff x="5901397" y="1353863"/>
            <a:chExt cx="3142984" cy="319401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A55AE0F-FB2D-6CF9-9CAA-9F99A29B3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1397" y="1353863"/>
              <a:ext cx="2998602" cy="280752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659070-7FD3-631F-97B5-8B0F8FB4E8EB}"/>
                </a:ext>
              </a:extLst>
            </p:cNvPr>
            <p:cNvSpPr txBox="1"/>
            <p:nvPr/>
          </p:nvSpPr>
          <p:spPr>
            <a:xfrm>
              <a:off x="6094352" y="4147765"/>
              <a:ext cx="295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solidFill>
                    <a:schemeClr val="bg1"/>
                  </a:solidFill>
                  <a:latin typeface="Amasis MT Pro Black" panose="02040A04050005020304" pitchFamily="18" charset="0"/>
                </a:rPr>
                <a:t>Metasploitable</a:t>
              </a:r>
              <a:r>
                <a:rPr lang="en-US" sz="2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 2</a:t>
              </a:r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F9B8A2B-57A8-15CA-9A53-FF8045B35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322" y="553403"/>
            <a:ext cx="1656456" cy="1656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007A4A-DCD7-CD5D-BE8B-BE253850B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19" y="1260221"/>
            <a:ext cx="5657396" cy="3470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D40141-C341-1A38-B42C-2D79C94F4EF3}"/>
              </a:ext>
            </a:extLst>
          </p:cNvPr>
          <p:cNvSpPr/>
          <p:nvPr/>
        </p:nvSpPr>
        <p:spPr>
          <a:xfrm>
            <a:off x="6311038" y="212379"/>
            <a:ext cx="2179320" cy="3693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  <a:latin typeface="Algerian" panose="04020705040A02060702" pitchFamily="82" charset="0"/>
              </a:rPr>
              <a:t>IP: 192.168.1.107</a:t>
            </a:r>
            <a:endParaRPr lang="en-AE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BD9F94-D562-8EE6-5C41-0F02151CF595}"/>
              </a:ext>
            </a:extLst>
          </p:cNvPr>
          <p:cNvSpPr txBox="1"/>
          <p:nvPr/>
        </p:nvSpPr>
        <p:spPr>
          <a:xfrm>
            <a:off x="670560" y="763460"/>
            <a:ext cx="3147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masis MT Pro" panose="020F0502020204030204" pitchFamily="18" charset="0"/>
              </a:rPr>
              <a:t>Web Server Is Running</a:t>
            </a:r>
            <a:endParaRPr lang="en-AE" sz="2000" b="1" dirty="0">
              <a:solidFill>
                <a:srgbClr val="00B050"/>
              </a:solidFill>
              <a:latin typeface="Amasis MT Pro" panose="020F0502020204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482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D7F1B-4141-503E-3460-181BA8BF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B70B61-6543-5DFD-94CE-F939A8C97C71}"/>
              </a:ext>
            </a:extLst>
          </p:cNvPr>
          <p:cNvSpPr/>
          <p:nvPr/>
        </p:nvSpPr>
        <p:spPr>
          <a:xfrm>
            <a:off x="6610577" y="212379"/>
            <a:ext cx="2179320" cy="3693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  <a:latin typeface="Algerian" panose="04020705040A02060702" pitchFamily="82" charset="0"/>
              </a:rPr>
              <a:t>IP: 192.168.1.106</a:t>
            </a:r>
            <a:endParaRPr lang="en-AE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E870A-569A-3192-6779-21E69B7462B6}"/>
              </a:ext>
            </a:extLst>
          </p:cNvPr>
          <p:cNvSpPr txBox="1"/>
          <p:nvPr/>
        </p:nvSpPr>
        <p:spPr>
          <a:xfrm>
            <a:off x="88714" y="755324"/>
            <a:ext cx="3690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lgerian" panose="04020705040A02060702" pitchFamily="82" charset="0"/>
              </a:rPr>
              <a:t>Starting The attack</a:t>
            </a:r>
            <a:endParaRPr lang="en-AE" sz="20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D55159-B8C2-E3AB-E6BD-A08EF8FB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4" y="1266327"/>
            <a:ext cx="8902776" cy="3082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0B8130B-8514-BBC3-1A52-0903BCB7BA18}"/>
              </a:ext>
            </a:extLst>
          </p:cNvPr>
          <p:cNvGrpSpPr/>
          <p:nvPr/>
        </p:nvGrpSpPr>
        <p:grpSpPr>
          <a:xfrm>
            <a:off x="5646419" y="4443"/>
            <a:ext cx="964157" cy="1016064"/>
            <a:chOff x="42240" y="1081659"/>
            <a:chExt cx="2488909" cy="2431371"/>
          </a:xfrm>
        </p:grpSpPr>
        <p:pic>
          <p:nvPicPr>
            <p:cNvPr id="12" name="Google Shape;215;p27">
              <a:extLst>
                <a:ext uri="{FF2B5EF4-FFF2-40B4-BE49-F238E27FC236}">
                  <a16:creationId xmlns:a16="http://schemas.microsoft.com/office/drawing/2014/main" id="{7B165329-0862-3EAF-95F0-1E871FC60D2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3300" r="13300"/>
            <a:stretch/>
          </p:blipFill>
          <p:spPr>
            <a:xfrm>
              <a:off x="133716" y="1081659"/>
              <a:ext cx="2238618" cy="22755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855F05-BC90-E1DF-4A9C-866831BD8EE4}"/>
                </a:ext>
              </a:extLst>
            </p:cNvPr>
            <p:cNvSpPr txBox="1"/>
            <p:nvPr/>
          </p:nvSpPr>
          <p:spPr>
            <a:xfrm>
              <a:off x="42240" y="3207098"/>
              <a:ext cx="2488909" cy="305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Kali</a:t>
              </a:r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7242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D8326-26BC-2C12-0CFC-445F6529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FB04046-8397-AAA0-746D-1E0D69E9A7A6}"/>
              </a:ext>
            </a:extLst>
          </p:cNvPr>
          <p:cNvSpPr/>
          <p:nvPr/>
        </p:nvSpPr>
        <p:spPr>
          <a:xfrm>
            <a:off x="6848704" y="162327"/>
            <a:ext cx="2179320" cy="3693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92D050"/>
                </a:solidFill>
                <a:latin typeface="Algerian" panose="04020705040A02060702" pitchFamily="82" charset="0"/>
              </a:rPr>
              <a:t>IP: 192.168.1.109</a:t>
            </a:r>
            <a:endParaRPr lang="en-AE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8D7B0-24D8-A3F0-E9DF-B412AC4AD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" y="1098214"/>
            <a:ext cx="8962085" cy="37643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51DB38D-BCE7-EF9A-E2D5-C6377CBB23B4}"/>
              </a:ext>
            </a:extLst>
          </p:cNvPr>
          <p:cNvGrpSpPr/>
          <p:nvPr/>
        </p:nvGrpSpPr>
        <p:grpSpPr>
          <a:xfrm>
            <a:off x="5945808" y="48761"/>
            <a:ext cx="856413" cy="1049453"/>
            <a:chOff x="5901397" y="1353863"/>
            <a:chExt cx="3142984" cy="372164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9C183A-3E98-49BF-8FEE-8B95830DF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1397" y="1353863"/>
              <a:ext cx="2998602" cy="280752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9D8FD8-3695-8054-C71B-2E338283DD07}"/>
                </a:ext>
              </a:extLst>
            </p:cNvPr>
            <p:cNvSpPr txBox="1"/>
            <p:nvPr/>
          </p:nvSpPr>
          <p:spPr>
            <a:xfrm>
              <a:off x="6094351" y="4147764"/>
              <a:ext cx="2950030" cy="927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Ubuntu</a:t>
              </a:r>
              <a:endParaRPr lang="en-AE" sz="11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C006560-7331-E94E-8C65-98C72DC687F6}"/>
              </a:ext>
            </a:extLst>
          </p:cNvPr>
          <p:cNvSpPr txBox="1"/>
          <p:nvPr/>
        </p:nvSpPr>
        <p:spPr>
          <a:xfrm>
            <a:off x="65938" y="709813"/>
            <a:ext cx="5580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badi" panose="020B0604020104020204" pitchFamily="34" charset="0"/>
              </a:rPr>
              <a:t>Snort IDS detected the </a:t>
            </a:r>
            <a:r>
              <a:rPr lang="en-US" sz="2000" b="1" dirty="0" err="1">
                <a:solidFill>
                  <a:schemeClr val="bg1"/>
                </a:solidFill>
                <a:latin typeface="Abadi" panose="020B0604020104020204" pitchFamily="34" charset="0"/>
              </a:rPr>
              <a:t>sql</a:t>
            </a:r>
            <a:r>
              <a:rPr lang="en-US" sz="2000" b="1" dirty="0">
                <a:solidFill>
                  <a:schemeClr val="bg1"/>
                </a:solidFill>
                <a:latin typeface="Abadi" panose="020B0604020104020204" pitchFamily="34" charset="0"/>
              </a:rPr>
              <a:t> injection payloads </a:t>
            </a:r>
            <a:endParaRPr lang="en-AE" sz="20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434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DCA2B-5CA9-717D-07B9-8D9C1A868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AE7552-120F-C013-6AA8-A9E40EDBB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4382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54AC2-8E81-3B58-016A-509AE9A4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Line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1" name="LeftLine"/>
          <p:cNvSpPr/>
          <p:nvPr/>
        </p:nvSpPr>
        <p:spPr>
          <a:xfrm>
            <a:off x="0" y="50800"/>
            <a:ext cx="50800" cy="50419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TitleBar"/>
          <p:cNvSpPr/>
          <p:nvPr/>
        </p:nvSpPr>
        <p:spPr>
          <a:xfrm>
            <a:off x="177800" y="152400"/>
            <a:ext cx="8788400" cy="6604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D3B66"/>
              </a:gs>
              <a:gs pos="100000">
                <a:srgbClr val="14274E"/>
              </a:gs>
            </a:gsLst>
            <a:lin ang="0" scaled="1"/>
          </a:gradFill>
          <a:ln w="12700">
            <a:solidFill>
              <a:srgbClr val="00D4FF">
                <a:alpha val="50000"/>
              </a:srgbClr>
            </a:solidFill>
          </a:ln>
        </p:spPr>
        <p:txBody>
          <a:bodyPr lIns="180000" tIns="0" rIns="91440" bIns="0" anchor="ctr" anchorCtr="0"/>
          <a:lstStyle/>
          <a:p>
            <a:pPr algn="l"/>
            <a:r>
              <a:rPr lang="en-US" sz="2000" b="1" dirty="0">
                <a:solidFill>
                  <a:srgbClr val="00D4FF"/>
                </a:solidFill>
                <a:latin typeface="Consolas"/>
              </a:rPr>
              <a:t>RULE SET 1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Detecting the Automated Tool (sqlmap)</a:t>
            </a:r>
          </a:p>
        </p:txBody>
      </p:sp>
      <p:sp>
        <p:nvSpPr>
          <p:cNvPr id="54" name="AccentBar"/>
          <p:cNvSpPr/>
          <p:nvPr/>
        </p:nvSpPr>
        <p:spPr>
          <a:xfrm>
            <a:off x="177800" y="838200"/>
            <a:ext cx="8788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60" name="Badge1"/>
          <p:cNvSpPr/>
          <p:nvPr/>
        </p:nvSpPr>
        <p:spPr>
          <a:xfrm>
            <a:off x="203200" y="1016000"/>
            <a:ext cx="304800" cy="30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A0E1A"/>
                </a:solidFill>
                <a:latin typeface="Segoe UI"/>
              </a:rPr>
              <a:t>1</a:t>
            </a:r>
          </a:p>
        </p:txBody>
      </p:sp>
      <p:sp>
        <p:nvSpPr>
          <p:cNvPr id="61" name="Label1"/>
          <p:cNvSpPr/>
          <p:nvPr/>
        </p:nvSpPr>
        <p:spPr>
          <a:xfrm>
            <a:off x="584200" y="1016000"/>
            <a:ext cx="7035800" cy="304800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Segoe UI"/>
              </a:rPr>
              <a:t>Catching the Default sqlmap User-Agent</a:t>
            </a:r>
          </a:p>
        </p:txBody>
      </p:sp>
      <p:sp>
        <p:nvSpPr>
          <p:cNvPr id="80" name="SID1"/>
          <p:cNvSpPr/>
          <p:nvPr/>
        </p:nvSpPr>
        <p:spPr>
          <a:xfrm>
            <a:off x="7696200" y="10287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70AD47">
              <a:alpha val="30000"/>
            </a:srgbClr>
          </a:solidFill>
          <a:ln w="6350">
            <a:solidFill>
              <a:srgbClr val="70AD47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1000" b="1" dirty="0">
                <a:solidFill>
                  <a:srgbClr val="70AD47"/>
                </a:solidFill>
                <a:latin typeface="Consolas"/>
              </a:rPr>
              <a:t>SID: 1000050</a:t>
            </a:r>
          </a:p>
        </p:txBody>
      </p:sp>
      <p:sp>
        <p:nvSpPr>
          <p:cNvPr id="2" name="Code2">
            <a:extLst>
              <a:ext uri="{FF2B5EF4-FFF2-40B4-BE49-F238E27FC236}">
                <a16:creationId xmlns:a16="http://schemas.microsoft.com/office/drawing/2014/main" id="{D7944A32-DCBD-0ABB-BC09-0C738E718D87}"/>
              </a:ext>
            </a:extLst>
          </p:cNvPr>
          <p:cNvSpPr/>
          <p:nvPr/>
        </p:nvSpPr>
        <p:spPr>
          <a:xfrm>
            <a:off x="203200" y="1397000"/>
            <a:ext cx="8737600" cy="124571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70AD47">
                <a:alpha val="70000"/>
              </a:srgbClr>
            </a:solidFill>
          </a:ln>
        </p:spPr>
        <p:txBody>
          <a:bodyPr wrap="square" lIns="114300" tIns="91440" rIns="114300" bIns="91440" anchor="t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b="1" spc="-20" dirty="0">
                <a:solidFill>
                  <a:srgbClr val="FF6B6B"/>
                </a:solidFill>
                <a:latin typeface="Consolas"/>
              </a:rPr>
              <a:t>alert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tcp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192.168.1.102 any -&gt; 192.168.1.107 80 (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msg: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"SQLi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 - 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sqlmap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 User-Agent Detected"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flow: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to_server,established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content: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"User-Agent|3A|"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http_header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content: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sqlmap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nocase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http_header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classtype: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web-application-attack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00D4FF"/>
                </a:solidFill>
                <a:latin typeface="Consolas"/>
              </a:rPr>
              <a:t>sid:1000050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rev:1;)</a:t>
            </a:r>
          </a:p>
        </p:txBody>
      </p:sp>
      <p:sp>
        <p:nvSpPr>
          <p:cNvPr id="900" name="ALabel"/>
          <p:cNvSpPr/>
          <p:nvPr/>
        </p:nvSpPr>
        <p:spPr>
          <a:xfrm>
            <a:off x="203200" y="2820511"/>
            <a:ext cx="8661400" cy="190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900" b="1" spc="100" dirty="0">
                <a:solidFill>
                  <a:srgbClr val="5B7FBB"/>
                </a:solidFill>
                <a:latin typeface="Segoe UI"/>
              </a:rPr>
              <a:t>▸  RULE BREAKDOWN</a:t>
            </a:r>
          </a:p>
        </p:txBody>
      </p:sp>
      <p:sp>
        <p:nvSpPr>
          <p:cNvPr id="901" name="ACard"/>
          <p:cNvSpPr/>
          <p:nvPr/>
        </p:nvSpPr>
        <p:spPr>
          <a:xfrm>
            <a:off x="2032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6B6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AStrip"/>
          <p:cNvSpPr/>
          <p:nvPr/>
        </p:nvSpPr>
        <p:spPr>
          <a:xfrm>
            <a:off x="2032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Text"/>
          <p:cNvSpPr/>
          <p:nvPr/>
        </p:nvSpPr>
        <p:spPr>
          <a:xfrm>
            <a:off x="3175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6B6B"/>
                </a:solidFill>
                <a:latin typeface="Segoe UI"/>
              </a:rPr>
              <a:t>ACTION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alert — triggers an IDS alert event</a:t>
            </a:r>
          </a:p>
        </p:txBody>
      </p:sp>
      <p:sp>
        <p:nvSpPr>
          <p:cNvPr id="907" name="ACard"/>
          <p:cNvSpPr/>
          <p:nvPr/>
        </p:nvSpPr>
        <p:spPr>
          <a:xfrm>
            <a:off x="2032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AStrip"/>
          <p:cNvSpPr/>
          <p:nvPr/>
        </p:nvSpPr>
        <p:spPr>
          <a:xfrm>
            <a:off x="2032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AText"/>
          <p:cNvSpPr/>
          <p:nvPr/>
        </p:nvSpPr>
        <p:spPr>
          <a:xfrm>
            <a:off x="3175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D4FF"/>
                </a:solidFill>
                <a:latin typeface="Segoe UI"/>
              </a:rPr>
              <a:t>DETECT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User-Agent header contains sqlmap keyword</a:t>
            </a:r>
          </a:p>
        </p:txBody>
      </p:sp>
      <p:sp>
        <p:nvSpPr>
          <p:cNvPr id="910" name="ACard"/>
          <p:cNvSpPr/>
          <p:nvPr/>
        </p:nvSpPr>
        <p:spPr>
          <a:xfrm>
            <a:off x="45974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D93D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AStrip"/>
          <p:cNvSpPr/>
          <p:nvPr/>
        </p:nvSpPr>
        <p:spPr>
          <a:xfrm>
            <a:off x="45974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AText"/>
          <p:cNvSpPr/>
          <p:nvPr/>
        </p:nvSpPr>
        <p:spPr>
          <a:xfrm>
            <a:off x="47117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D93D"/>
                </a:solidFill>
                <a:latin typeface="Segoe UI"/>
              </a:rPr>
              <a:t>CLASSIFY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web-application-attack  |  sid:1000050  |  rev:1</a:t>
            </a:r>
          </a:p>
        </p:txBody>
      </p:sp>
      <p:sp>
        <p:nvSpPr>
          <p:cNvPr id="3" name="ACard">
            <a:extLst>
              <a:ext uri="{FF2B5EF4-FFF2-40B4-BE49-F238E27FC236}">
                <a16:creationId xmlns:a16="http://schemas.microsoft.com/office/drawing/2014/main" id="{64E2002F-8A0F-0322-B18D-A6EA644DBBA0}"/>
              </a:ext>
            </a:extLst>
          </p:cNvPr>
          <p:cNvSpPr/>
          <p:nvPr/>
        </p:nvSpPr>
        <p:spPr>
          <a:xfrm>
            <a:off x="45974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70AD4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AStrip">
            <a:extLst>
              <a:ext uri="{FF2B5EF4-FFF2-40B4-BE49-F238E27FC236}">
                <a16:creationId xmlns:a16="http://schemas.microsoft.com/office/drawing/2014/main" id="{C68C7685-CBF0-5B55-BB87-29F4D79F5802}"/>
              </a:ext>
            </a:extLst>
          </p:cNvPr>
          <p:cNvSpPr/>
          <p:nvPr/>
        </p:nvSpPr>
        <p:spPr>
          <a:xfrm>
            <a:off x="45974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AText">
            <a:extLst>
              <a:ext uri="{FF2B5EF4-FFF2-40B4-BE49-F238E27FC236}">
                <a16:creationId xmlns:a16="http://schemas.microsoft.com/office/drawing/2014/main" id="{F52DDCE0-C29E-F266-8FC5-9F56E2898615}"/>
              </a:ext>
            </a:extLst>
          </p:cNvPr>
          <p:cNvSpPr/>
          <p:nvPr/>
        </p:nvSpPr>
        <p:spPr>
          <a:xfrm>
            <a:off x="47117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70AD47"/>
                </a:solidFill>
                <a:latin typeface="Segoe UI"/>
              </a:rPr>
              <a:t>FLOW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C4D0E0"/>
                </a:solidFill>
                <a:latin typeface="Segoe UI"/>
              </a:rPr>
              <a:t>to_server</a:t>
            </a:r>
            <a:r>
              <a:rPr lang="en-US" sz="1100" dirty="0">
                <a:solidFill>
                  <a:srgbClr val="C4D0E0"/>
                </a:solidFill>
                <a:latin typeface="Segoe UI"/>
              </a:rPr>
              <a:t>, established</a:t>
            </a:r>
          </a:p>
        </p:txBody>
      </p:sp>
    </p:spTree>
    <p:extLst>
      <p:ext uri="{BB962C8B-B14F-4D97-AF65-F5344CB8AC3E}">
        <p14:creationId xmlns:p14="http://schemas.microsoft.com/office/powerpoint/2010/main" val="183304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6E69C-3075-642E-95D2-2D1B549E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Line">
            <a:extLst>
              <a:ext uri="{FF2B5EF4-FFF2-40B4-BE49-F238E27FC236}">
                <a16:creationId xmlns:a16="http://schemas.microsoft.com/office/drawing/2014/main" id="{480C77D6-9176-3C2C-C4F5-AD0EF4E6B4D7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1" name="LeftLine">
            <a:extLst>
              <a:ext uri="{FF2B5EF4-FFF2-40B4-BE49-F238E27FC236}">
                <a16:creationId xmlns:a16="http://schemas.microsoft.com/office/drawing/2014/main" id="{EDD66DCE-A8AC-77E5-0B6E-A4AFB07BCFFE}"/>
              </a:ext>
            </a:extLst>
          </p:cNvPr>
          <p:cNvSpPr/>
          <p:nvPr/>
        </p:nvSpPr>
        <p:spPr>
          <a:xfrm>
            <a:off x="0" y="50800"/>
            <a:ext cx="50800" cy="50419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TitleBar">
            <a:extLst>
              <a:ext uri="{FF2B5EF4-FFF2-40B4-BE49-F238E27FC236}">
                <a16:creationId xmlns:a16="http://schemas.microsoft.com/office/drawing/2014/main" id="{1D0256D3-CF50-9A90-9D03-9A13377000A7}"/>
              </a:ext>
            </a:extLst>
          </p:cNvPr>
          <p:cNvSpPr/>
          <p:nvPr/>
        </p:nvSpPr>
        <p:spPr>
          <a:xfrm>
            <a:off x="177800" y="152400"/>
            <a:ext cx="8788400" cy="6604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D3B66"/>
              </a:gs>
              <a:gs pos="100000">
                <a:srgbClr val="14274E"/>
              </a:gs>
            </a:gsLst>
            <a:lin ang="0" scaled="1"/>
          </a:gradFill>
          <a:ln w="12700">
            <a:solidFill>
              <a:srgbClr val="00D4FF">
                <a:alpha val="50000"/>
              </a:srgbClr>
            </a:solidFill>
          </a:ln>
        </p:spPr>
        <p:txBody>
          <a:bodyPr lIns="180000" tIns="0" rIns="91440" bIns="0" anchor="ctr" anchorCtr="0"/>
          <a:lstStyle/>
          <a:p>
            <a:pPr algn="l"/>
            <a:r>
              <a:rPr lang="en-US" sz="2000" b="1" dirty="0">
                <a:solidFill>
                  <a:srgbClr val="00D4FF"/>
                </a:solidFill>
                <a:latin typeface="Consolas"/>
              </a:rPr>
              <a:t>RULE SET 1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Detecting the Automated Tool (sqlmap)</a:t>
            </a:r>
          </a:p>
        </p:txBody>
      </p:sp>
      <p:sp>
        <p:nvSpPr>
          <p:cNvPr id="54" name="AccentBar">
            <a:extLst>
              <a:ext uri="{FF2B5EF4-FFF2-40B4-BE49-F238E27FC236}">
                <a16:creationId xmlns:a16="http://schemas.microsoft.com/office/drawing/2014/main" id="{5C4467BE-2BF5-5959-0F8A-AAB944381C5B}"/>
              </a:ext>
            </a:extLst>
          </p:cNvPr>
          <p:cNvSpPr/>
          <p:nvPr/>
        </p:nvSpPr>
        <p:spPr>
          <a:xfrm>
            <a:off x="177800" y="838200"/>
            <a:ext cx="8788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0" name="Badge2">
            <a:extLst>
              <a:ext uri="{FF2B5EF4-FFF2-40B4-BE49-F238E27FC236}">
                <a16:creationId xmlns:a16="http://schemas.microsoft.com/office/drawing/2014/main" id="{CE85D186-C8F9-8B10-DEBC-FC474CE4D248}"/>
              </a:ext>
            </a:extLst>
          </p:cNvPr>
          <p:cNvSpPr/>
          <p:nvPr/>
        </p:nvSpPr>
        <p:spPr>
          <a:xfrm>
            <a:off x="203200" y="1016000"/>
            <a:ext cx="304800" cy="30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A0E1A"/>
                </a:solidFill>
                <a:latin typeface="Segoe UI"/>
              </a:rPr>
              <a:t>2</a:t>
            </a:r>
          </a:p>
        </p:txBody>
      </p:sp>
      <p:sp>
        <p:nvSpPr>
          <p:cNvPr id="71" name="Label2">
            <a:extLst>
              <a:ext uri="{FF2B5EF4-FFF2-40B4-BE49-F238E27FC236}">
                <a16:creationId xmlns:a16="http://schemas.microsoft.com/office/drawing/2014/main" id="{944D4341-F29E-2786-45DB-0383940E32C3}"/>
              </a:ext>
            </a:extLst>
          </p:cNvPr>
          <p:cNvSpPr/>
          <p:nvPr/>
        </p:nvSpPr>
        <p:spPr>
          <a:xfrm>
            <a:off x="584200" y="1016000"/>
            <a:ext cx="7035800" cy="304800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Segoe UI"/>
              </a:rPr>
              <a:t>Catching sqlmap Dummy Integer Testing</a:t>
            </a:r>
            <a:r>
              <a:rPr lang="en-US" sz="1200" dirty="0">
                <a:solidFill>
                  <a:srgbClr val="808080"/>
                </a:solidFill>
                <a:latin typeface="Segoe UI"/>
              </a:rPr>
              <a:t>   e.g., ?id=1234 AND 4321=4321</a:t>
            </a:r>
          </a:p>
        </p:txBody>
      </p:sp>
      <p:sp>
        <p:nvSpPr>
          <p:cNvPr id="81" name="SID2">
            <a:extLst>
              <a:ext uri="{FF2B5EF4-FFF2-40B4-BE49-F238E27FC236}">
                <a16:creationId xmlns:a16="http://schemas.microsoft.com/office/drawing/2014/main" id="{B37800C9-F224-CB5D-ED9D-854C10C57E97}"/>
              </a:ext>
            </a:extLst>
          </p:cNvPr>
          <p:cNvSpPr/>
          <p:nvPr/>
        </p:nvSpPr>
        <p:spPr>
          <a:xfrm>
            <a:off x="7696200" y="10287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70AD47">
              <a:alpha val="30000"/>
            </a:srgbClr>
          </a:solidFill>
          <a:ln w="6350">
            <a:solidFill>
              <a:srgbClr val="70AD47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1000" b="1" dirty="0">
                <a:solidFill>
                  <a:srgbClr val="70AD47"/>
                </a:solidFill>
                <a:latin typeface="Consolas"/>
              </a:rPr>
              <a:t>SID: 1000051</a:t>
            </a:r>
          </a:p>
        </p:txBody>
      </p:sp>
      <p:sp>
        <p:nvSpPr>
          <p:cNvPr id="2" name="Code2">
            <a:extLst>
              <a:ext uri="{FF2B5EF4-FFF2-40B4-BE49-F238E27FC236}">
                <a16:creationId xmlns:a16="http://schemas.microsoft.com/office/drawing/2014/main" id="{D2FE2135-199B-7723-6105-E08E7C3669C9}"/>
              </a:ext>
            </a:extLst>
          </p:cNvPr>
          <p:cNvSpPr/>
          <p:nvPr/>
        </p:nvSpPr>
        <p:spPr>
          <a:xfrm>
            <a:off x="203200" y="1397000"/>
            <a:ext cx="8737600" cy="124571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70AD47">
                <a:alpha val="70000"/>
              </a:srgbClr>
            </a:solidFill>
          </a:ln>
        </p:spPr>
        <p:txBody>
          <a:bodyPr wrap="square" lIns="114300" tIns="91440" rIns="114300" bIns="91440" anchor="t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b="1" spc="-20" dirty="0">
                <a:solidFill>
                  <a:srgbClr val="FF6B6B"/>
                </a:solidFill>
                <a:latin typeface="Consolas"/>
              </a:rPr>
              <a:t>alert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tcp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192.168.1.102 any -&gt; 192.168.1.107 80 (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msg: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"SQLi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 - 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sqlmap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 Dummy Integer Injection"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flow: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to_server,established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pcre: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"/?.*=d{4,5}s+(AND|OR)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s+d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{4,5}=d{4,5}/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i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http_uri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classtype: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web-application-attack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>
                <a:solidFill>
                  <a:srgbClr val="00D4FF"/>
                </a:solidFill>
                <a:latin typeface="Consolas"/>
              </a:rPr>
              <a:t>sid:1000051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rev:1;)</a:t>
            </a:r>
          </a:p>
        </p:txBody>
      </p:sp>
      <p:sp>
        <p:nvSpPr>
          <p:cNvPr id="900" name="ALabel"/>
          <p:cNvSpPr/>
          <p:nvPr/>
        </p:nvSpPr>
        <p:spPr>
          <a:xfrm>
            <a:off x="203200" y="2820511"/>
            <a:ext cx="8661400" cy="190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900" b="1" spc="100" dirty="0">
                <a:solidFill>
                  <a:srgbClr val="5B7FBB"/>
                </a:solidFill>
                <a:latin typeface="Segoe UI"/>
              </a:rPr>
              <a:t>▸  RULE BREAKDOWN</a:t>
            </a:r>
          </a:p>
        </p:txBody>
      </p:sp>
      <p:sp>
        <p:nvSpPr>
          <p:cNvPr id="901" name="ACard"/>
          <p:cNvSpPr/>
          <p:nvPr/>
        </p:nvSpPr>
        <p:spPr>
          <a:xfrm>
            <a:off x="2032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6B6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AStrip"/>
          <p:cNvSpPr/>
          <p:nvPr/>
        </p:nvSpPr>
        <p:spPr>
          <a:xfrm>
            <a:off x="2032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Text"/>
          <p:cNvSpPr/>
          <p:nvPr/>
        </p:nvSpPr>
        <p:spPr>
          <a:xfrm>
            <a:off x="3175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6B6B"/>
                </a:solidFill>
                <a:latin typeface="Segoe UI"/>
              </a:rPr>
              <a:t>ACTION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alert — triggers an IDS alert event</a:t>
            </a:r>
          </a:p>
        </p:txBody>
      </p:sp>
      <p:sp>
        <p:nvSpPr>
          <p:cNvPr id="907" name="ACard"/>
          <p:cNvSpPr/>
          <p:nvPr/>
        </p:nvSpPr>
        <p:spPr>
          <a:xfrm>
            <a:off x="2032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AStrip"/>
          <p:cNvSpPr/>
          <p:nvPr/>
        </p:nvSpPr>
        <p:spPr>
          <a:xfrm>
            <a:off x="2032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AText"/>
          <p:cNvSpPr/>
          <p:nvPr/>
        </p:nvSpPr>
        <p:spPr>
          <a:xfrm>
            <a:off x="3175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D4FF"/>
                </a:solidFill>
                <a:latin typeface="Segoe UI"/>
              </a:rPr>
              <a:t>DETECT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pcre: ?param=NNNN AND NNNN=NNNN in URI (http_uri)</a:t>
            </a:r>
          </a:p>
        </p:txBody>
      </p:sp>
      <p:sp>
        <p:nvSpPr>
          <p:cNvPr id="910" name="ACard"/>
          <p:cNvSpPr/>
          <p:nvPr/>
        </p:nvSpPr>
        <p:spPr>
          <a:xfrm>
            <a:off x="45974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D93D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AStrip"/>
          <p:cNvSpPr/>
          <p:nvPr/>
        </p:nvSpPr>
        <p:spPr>
          <a:xfrm>
            <a:off x="45974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AText"/>
          <p:cNvSpPr/>
          <p:nvPr/>
        </p:nvSpPr>
        <p:spPr>
          <a:xfrm>
            <a:off x="47117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D93D"/>
                </a:solidFill>
                <a:latin typeface="Segoe UI"/>
              </a:rPr>
              <a:t>CLASSIFY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web-application-attack  |  sid:1000051  |  rev:1</a:t>
            </a:r>
          </a:p>
        </p:txBody>
      </p:sp>
      <p:sp>
        <p:nvSpPr>
          <p:cNvPr id="3" name="ACard">
            <a:extLst>
              <a:ext uri="{FF2B5EF4-FFF2-40B4-BE49-F238E27FC236}">
                <a16:creationId xmlns:a16="http://schemas.microsoft.com/office/drawing/2014/main" id="{D475A321-11BA-9D9D-9E21-4318B313946D}"/>
              </a:ext>
            </a:extLst>
          </p:cNvPr>
          <p:cNvSpPr/>
          <p:nvPr/>
        </p:nvSpPr>
        <p:spPr>
          <a:xfrm>
            <a:off x="45974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70AD4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AStrip">
            <a:extLst>
              <a:ext uri="{FF2B5EF4-FFF2-40B4-BE49-F238E27FC236}">
                <a16:creationId xmlns:a16="http://schemas.microsoft.com/office/drawing/2014/main" id="{FC501FBA-3E82-E7B4-5CA9-72855378966B}"/>
              </a:ext>
            </a:extLst>
          </p:cNvPr>
          <p:cNvSpPr/>
          <p:nvPr/>
        </p:nvSpPr>
        <p:spPr>
          <a:xfrm>
            <a:off x="45974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AText">
            <a:extLst>
              <a:ext uri="{FF2B5EF4-FFF2-40B4-BE49-F238E27FC236}">
                <a16:creationId xmlns:a16="http://schemas.microsoft.com/office/drawing/2014/main" id="{9B489C2B-9011-C110-50B0-45A7A183B12B}"/>
              </a:ext>
            </a:extLst>
          </p:cNvPr>
          <p:cNvSpPr/>
          <p:nvPr/>
        </p:nvSpPr>
        <p:spPr>
          <a:xfrm>
            <a:off x="47117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70AD47"/>
                </a:solidFill>
                <a:latin typeface="Segoe UI"/>
              </a:rPr>
              <a:t>FLOW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C4D0E0"/>
                </a:solidFill>
                <a:latin typeface="Segoe UI"/>
              </a:rPr>
              <a:t>to_server</a:t>
            </a:r>
            <a:r>
              <a:rPr lang="en-US" sz="1100" dirty="0">
                <a:solidFill>
                  <a:srgbClr val="C4D0E0"/>
                </a:solidFill>
                <a:latin typeface="Segoe UI"/>
              </a:rPr>
              <a:t>, established</a:t>
            </a:r>
          </a:p>
        </p:txBody>
      </p:sp>
    </p:spTree>
    <p:extLst>
      <p:ext uri="{BB962C8B-B14F-4D97-AF65-F5344CB8AC3E}">
        <p14:creationId xmlns:p14="http://schemas.microsoft.com/office/powerpoint/2010/main" val="1886866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116DE-9A4C-9828-CCB0-56A29739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Line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1" name="LeftLine"/>
          <p:cNvSpPr/>
          <p:nvPr/>
        </p:nvSpPr>
        <p:spPr>
          <a:xfrm>
            <a:off x="0" y="50800"/>
            <a:ext cx="50800" cy="50419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TitleBar"/>
          <p:cNvSpPr/>
          <p:nvPr/>
        </p:nvSpPr>
        <p:spPr>
          <a:xfrm>
            <a:off x="177800" y="152400"/>
            <a:ext cx="8788400" cy="6604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D3B66"/>
              </a:gs>
              <a:gs pos="100000">
                <a:srgbClr val="14274E"/>
              </a:gs>
            </a:gsLst>
            <a:lin ang="0" scaled="1"/>
          </a:gradFill>
          <a:ln w="12700">
            <a:solidFill>
              <a:srgbClr val="00D4FF">
                <a:alpha val="50000"/>
              </a:srgbClr>
            </a:solidFill>
          </a:ln>
        </p:spPr>
        <p:txBody>
          <a:bodyPr lIns="180000" tIns="0" rIns="91440" bIns="0" anchor="ctr" anchorCtr="0"/>
          <a:lstStyle/>
          <a:p>
            <a:pPr algn="l"/>
            <a:r>
              <a:rPr lang="en-US" sz="2000" b="1" dirty="0">
                <a:solidFill>
                  <a:srgbClr val="00D4FF"/>
                </a:solidFill>
                <a:latin typeface="Consolas"/>
              </a:rPr>
              <a:t>RULE SET 2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Boolean &amp; Error-Based Logic Detection</a:t>
            </a:r>
          </a:p>
        </p:txBody>
      </p:sp>
      <p:sp>
        <p:nvSpPr>
          <p:cNvPr id="54" name="AccentBar"/>
          <p:cNvSpPr/>
          <p:nvPr/>
        </p:nvSpPr>
        <p:spPr>
          <a:xfrm>
            <a:off x="177800" y="838200"/>
            <a:ext cx="8788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60" name="Badge1"/>
          <p:cNvSpPr/>
          <p:nvPr/>
        </p:nvSpPr>
        <p:spPr>
          <a:xfrm>
            <a:off x="203200" y="1016000"/>
            <a:ext cx="304800" cy="30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A0E1A"/>
                </a:solidFill>
                <a:latin typeface="Segoe UI"/>
              </a:rPr>
              <a:t>1</a:t>
            </a:r>
          </a:p>
        </p:txBody>
      </p:sp>
      <p:sp>
        <p:nvSpPr>
          <p:cNvPr id="61" name="Label1"/>
          <p:cNvSpPr/>
          <p:nvPr/>
        </p:nvSpPr>
        <p:spPr>
          <a:xfrm>
            <a:off x="584200" y="1016000"/>
            <a:ext cx="7035800" cy="304800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Segoe UI"/>
              </a:rPr>
              <a:t>Classic Boolean OR Logic</a:t>
            </a:r>
            <a:r>
              <a:rPr lang="en-US" sz="1200" dirty="0">
                <a:solidFill>
                  <a:srgbClr val="808080"/>
                </a:solidFill>
                <a:latin typeface="Segoe UI"/>
              </a:rPr>
              <a:t>   catches spaces, ticks &amp; URL encoding</a:t>
            </a:r>
          </a:p>
        </p:txBody>
      </p:sp>
      <p:sp>
        <p:nvSpPr>
          <p:cNvPr id="80" name="SID1"/>
          <p:cNvSpPr/>
          <p:nvPr/>
        </p:nvSpPr>
        <p:spPr>
          <a:xfrm>
            <a:off x="7696200" y="10287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70AD47">
              <a:alpha val="30000"/>
            </a:srgbClr>
          </a:solidFill>
          <a:ln w="6350">
            <a:solidFill>
              <a:srgbClr val="70AD47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1000" b="1" dirty="0">
                <a:solidFill>
                  <a:srgbClr val="70AD47"/>
                </a:solidFill>
                <a:latin typeface="Consolas"/>
              </a:rPr>
              <a:t>SID: 1000052</a:t>
            </a:r>
          </a:p>
        </p:txBody>
      </p:sp>
      <p:sp>
        <p:nvSpPr>
          <p:cNvPr id="2" name="Code2">
            <a:extLst>
              <a:ext uri="{FF2B5EF4-FFF2-40B4-BE49-F238E27FC236}">
                <a16:creationId xmlns:a16="http://schemas.microsoft.com/office/drawing/2014/main" id="{B7882D06-147C-7BF3-3E47-CCF55ECE3E30}"/>
              </a:ext>
            </a:extLst>
          </p:cNvPr>
          <p:cNvSpPr/>
          <p:nvPr/>
        </p:nvSpPr>
        <p:spPr>
          <a:xfrm>
            <a:off x="203200" y="1397000"/>
            <a:ext cx="8737600" cy="124571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70AD47">
                <a:alpha val="70000"/>
              </a:srgbClr>
            </a:solidFill>
          </a:ln>
        </p:spPr>
        <p:txBody>
          <a:bodyPr wrap="square" lIns="114300" tIns="91440" rIns="114300" bIns="91440" anchor="t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b="1" spc="-20" dirty="0">
                <a:solidFill>
                  <a:srgbClr val="FF6B6B"/>
                </a:solidFill>
                <a:latin typeface="Consolas"/>
              </a:rPr>
              <a:t>alert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tcp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192.168.1.102 any -&gt; 192.168.1.107 80 (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msg: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"SQLi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 - Boolean Logic (OR 1=1)"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flow: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to_server,established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pcre: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"/(%27|')(s|%20)*(OR|AND)(s|%20)*d*(s|%20)*=(s|%20)*d*/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i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http_uri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classtype: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web-application-attack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>
                <a:solidFill>
                  <a:srgbClr val="00D4FF"/>
                </a:solidFill>
                <a:latin typeface="Consolas"/>
              </a:rPr>
              <a:t>sid:1000052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rev:1;)</a:t>
            </a:r>
          </a:p>
        </p:txBody>
      </p:sp>
      <p:sp>
        <p:nvSpPr>
          <p:cNvPr id="900" name="ALabel"/>
          <p:cNvSpPr/>
          <p:nvPr/>
        </p:nvSpPr>
        <p:spPr>
          <a:xfrm>
            <a:off x="203200" y="2820511"/>
            <a:ext cx="8661400" cy="190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900" b="1" spc="100" dirty="0">
                <a:solidFill>
                  <a:srgbClr val="5B7FBB"/>
                </a:solidFill>
                <a:latin typeface="Segoe UI"/>
              </a:rPr>
              <a:t>▸  RULE BREAKDOWN</a:t>
            </a:r>
          </a:p>
        </p:txBody>
      </p:sp>
      <p:sp>
        <p:nvSpPr>
          <p:cNvPr id="901" name="ACard"/>
          <p:cNvSpPr/>
          <p:nvPr/>
        </p:nvSpPr>
        <p:spPr>
          <a:xfrm>
            <a:off x="2032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6B6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AStrip"/>
          <p:cNvSpPr/>
          <p:nvPr/>
        </p:nvSpPr>
        <p:spPr>
          <a:xfrm>
            <a:off x="2032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Text"/>
          <p:cNvSpPr/>
          <p:nvPr/>
        </p:nvSpPr>
        <p:spPr>
          <a:xfrm>
            <a:off x="3175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6B6B"/>
                </a:solidFill>
                <a:latin typeface="Segoe UI"/>
              </a:rPr>
              <a:t>ACTION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alert — triggers an IDS alert event</a:t>
            </a:r>
          </a:p>
        </p:txBody>
      </p:sp>
      <p:sp>
        <p:nvSpPr>
          <p:cNvPr id="907" name="ACard"/>
          <p:cNvSpPr/>
          <p:nvPr/>
        </p:nvSpPr>
        <p:spPr>
          <a:xfrm>
            <a:off x="2032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AStrip"/>
          <p:cNvSpPr/>
          <p:nvPr/>
        </p:nvSpPr>
        <p:spPr>
          <a:xfrm>
            <a:off x="2032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AText"/>
          <p:cNvSpPr/>
          <p:nvPr/>
        </p:nvSpPr>
        <p:spPr>
          <a:xfrm>
            <a:off x="3175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D4FF"/>
                </a:solidFill>
                <a:latin typeface="Segoe UI"/>
              </a:rPr>
              <a:t>DETECT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pcre: quote + OR/AND + numeric equality (URL-encoded, http_uri)</a:t>
            </a:r>
          </a:p>
        </p:txBody>
      </p:sp>
      <p:sp>
        <p:nvSpPr>
          <p:cNvPr id="910" name="ACard"/>
          <p:cNvSpPr/>
          <p:nvPr/>
        </p:nvSpPr>
        <p:spPr>
          <a:xfrm>
            <a:off x="45974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D93D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AStrip"/>
          <p:cNvSpPr/>
          <p:nvPr/>
        </p:nvSpPr>
        <p:spPr>
          <a:xfrm>
            <a:off x="45974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AText"/>
          <p:cNvSpPr/>
          <p:nvPr/>
        </p:nvSpPr>
        <p:spPr>
          <a:xfrm>
            <a:off x="47117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D93D"/>
                </a:solidFill>
                <a:latin typeface="Segoe UI"/>
              </a:rPr>
              <a:t>CLASSIFY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web-application-attack  |  sid:1000052  |  rev:1</a:t>
            </a:r>
          </a:p>
        </p:txBody>
      </p:sp>
      <p:sp>
        <p:nvSpPr>
          <p:cNvPr id="3" name="ACard">
            <a:extLst>
              <a:ext uri="{FF2B5EF4-FFF2-40B4-BE49-F238E27FC236}">
                <a16:creationId xmlns:a16="http://schemas.microsoft.com/office/drawing/2014/main" id="{73B37028-F475-2923-BD7C-73911325E539}"/>
              </a:ext>
            </a:extLst>
          </p:cNvPr>
          <p:cNvSpPr/>
          <p:nvPr/>
        </p:nvSpPr>
        <p:spPr>
          <a:xfrm>
            <a:off x="45974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70AD4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AStrip">
            <a:extLst>
              <a:ext uri="{FF2B5EF4-FFF2-40B4-BE49-F238E27FC236}">
                <a16:creationId xmlns:a16="http://schemas.microsoft.com/office/drawing/2014/main" id="{FFCFA13F-6933-4DD6-D5FD-EA40E11544FD}"/>
              </a:ext>
            </a:extLst>
          </p:cNvPr>
          <p:cNvSpPr/>
          <p:nvPr/>
        </p:nvSpPr>
        <p:spPr>
          <a:xfrm>
            <a:off x="45974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AText">
            <a:extLst>
              <a:ext uri="{FF2B5EF4-FFF2-40B4-BE49-F238E27FC236}">
                <a16:creationId xmlns:a16="http://schemas.microsoft.com/office/drawing/2014/main" id="{A7E72B14-7F55-88B7-CD9F-58B963F45FD5}"/>
              </a:ext>
            </a:extLst>
          </p:cNvPr>
          <p:cNvSpPr/>
          <p:nvPr/>
        </p:nvSpPr>
        <p:spPr>
          <a:xfrm>
            <a:off x="47117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70AD47"/>
                </a:solidFill>
                <a:latin typeface="Segoe UI"/>
              </a:rPr>
              <a:t>FLOW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C4D0E0"/>
                </a:solidFill>
                <a:latin typeface="Segoe UI"/>
              </a:rPr>
              <a:t>to_server</a:t>
            </a:r>
            <a:r>
              <a:rPr lang="en-US" sz="1100" dirty="0">
                <a:solidFill>
                  <a:srgbClr val="C4D0E0"/>
                </a:solidFill>
                <a:latin typeface="Segoe UI"/>
              </a:rPr>
              <a:t>, established</a:t>
            </a:r>
          </a:p>
        </p:txBody>
      </p:sp>
    </p:spTree>
    <p:extLst>
      <p:ext uri="{BB962C8B-B14F-4D97-AF65-F5344CB8AC3E}">
        <p14:creationId xmlns:p14="http://schemas.microsoft.com/office/powerpoint/2010/main" val="117304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D8C0C-DBE2-CF4F-20F6-ED1A81BE8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Line">
            <a:extLst>
              <a:ext uri="{FF2B5EF4-FFF2-40B4-BE49-F238E27FC236}">
                <a16:creationId xmlns:a16="http://schemas.microsoft.com/office/drawing/2014/main" id="{2CB87ED2-6D3C-79E0-B215-43280F805426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1" name="LeftLine">
            <a:extLst>
              <a:ext uri="{FF2B5EF4-FFF2-40B4-BE49-F238E27FC236}">
                <a16:creationId xmlns:a16="http://schemas.microsoft.com/office/drawing/2014/main" id="{F79B604C-C831-4431-23BB-BB44890F92CE}"/>
              </a:ext>
            </a:extLst>
          </p:cNvPr>
          <p:cNvSpPr/>
          <p:nvPr/>
        </p:nvSpPr>
        <p:spPr>
          <a:xfrm>
            <a:off x="0" y="50800"/>
            <a:ext cx="50800" cy="50419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TitleBar">
            <a:extLst>
              <a:ext uri="{FF2B5EF4-FFF2-40B4-BE49-F238E27FC236}">
                <a16:creationId xmlns:a16="http://schemas.microsoft.com/office/drawing/2014/main" id="{F8D17D01-E52B-E340-CABB-C6A703CB3661}"/>
              </a:ext>
            </a:extLst>
          </p:cNvPr>
          <p:cNvSpPr/>
          <p:nvPr/>
        </p:nvSpPr>
        <p:spPr>
          <a:xfrm>
            <a:off x="177800" y="152400"/>
            <a:ext cx="8788400" cy="6604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D3B66"/>
              </a:gs>
              <a:gs pos="100000">
                <a:srgbClr val="14274E"/>
              </a:gs>
            </a:gsLst>
            <a:lin ang="0" scaled="1"/>
          </a:gradFill>
          <a:ln w="12700">
            <a:solidFill>
              <a:srgbClr val="00D4FF">
                <a:alpha val="50000"/>
              </a:srgbClr>
            </a:solidFill>
          </a:ln>
        </p:spPr>
        <p:txBody>
          <a:bodyPr lIns="180000" tIns="0" rIns="91440" bIns="0" anchor="ctr" anchorCtr="0"/>
          <a:lstStyle/>
          <a:p>
            <a:pPr algn="l"/>
            <a:r>
              <a:rPr lang="en-US" sz="2000" b="1" dirty="0">
                <a:solidFill>
                  <a:srgbClr val="00D4FF"/>
                </a:solidFill>
                <a:latin typeface="Consolas"/>
              </a:rPr>
              <a:t>RULE SET 2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Boolean &amp; Error-Based Logic Detection</a:t>
            </a:r>
          </a:p>
        </p:txBody>
      </p:sp>
      <p:sp>
        <p:nvSpPr>
          <p:cNvPr id="54" name="AccentBar">
            <a:extLst>
              <a:ext uri="{FF2B5EF4-FFF2-40B4-BE49-F238E27FC236}">
                <a16:creationId xmlns:a16="http://schemas.microsoft.com/office/drawing/2014/main" id="{0A221085-08CD-B576-085F-B4E0CF7870B0}"/>
              </a:ext>
            </a:extLst>
          </p:cNvPr>
          <p:cNvSpPr/>
          <p:nvPr/>
        </p:nvSpPr>
        <p:spPr>
          <a:xfrm>
            <a:off x="177800" y="838200"/>
            <a:ext cx="8788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0" name="Badge2">
            <a:extLst>
              <a:ext uri="{FF2B5EF4-FFF2-40B4-BE49-F238E27FC236}">
                <a16:creationId xmlns:a16="http://schemas.microsoft.com/office/drawing/2014/main" id="{812E5A85-E881-E20C-EC04-E6D508A92167}"/>
              </a:ext>
            </a:extLst>
          </p:cNvPr>
          <p:cNvSpPr/>
          <p:nvPr/>
        </p:nvSpPr>
        <p:spPr>
          <a:xfrm>
            <a:off x="203200" y="1016000"/>
            <a:ext cx="304800" cy="30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A0E1A"/>
                </a:solidFill>
                <a:latin typeface="Segoe UI"/>
              </a:rPr>
              <a:t>2</a:t>
            </a:r>
          </a:p>
        </p:txBody>
      </p:sp>
      <p:sp>
        <p:nvSpPr>
          <p:cNvPr id="71" name="Label2">
            <a:extLst>
              <a:ext uri="{FF2B5EF4-FFF2-40B4-BE49-F238E27FC236}">
                <a16:creationId xmlns:a16="http://schemas.microsoft.com/office/drawing/2014/main" id="{65D54A4A-B375-D8B2-D6E7-97D32C0D2978}"/>
              </a:ext>
            </a:extLst>
          </p:cNvPr>
          <p:cNvSpPr/>
          <p:nvPr/>
        </p:nvSpPr>
        <p:spPr>
          <a:xfrm>
            <a:off x="584200" y="1016000"/>
            <a:ext cx="7035800" cy="304800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Segoe UI"/>
              </a:rPr>
              <a:t>Quote Breakout &amp; Comment Injection</a:t>
            </a:r>
            <a:r>
              <a:rPr lang="en-US" sz="1200" dirty="0">
                <a:solidFill>
                  <a:srgbClr val="808080"/>
                </a:solidFill>
                <a:latin typeface="Segoe UI"/>
              </a:rPr>
              <a:t>   single quotes followed by -- or #</a:t>
            </a:r>
          </a:p>
        </p:txBody>
      </p:sp>
      <p:sp>
        <p:nvSpPr>
          <p:cNvPr id="81" name="SID2">
            <a:extLst>
              <a:ext uri="{FF2B5EF4-FFF2-40B4-BE49-F238E27FC236}">
                <a16:creationId xmlns:a16="http://schemas.microsoft.com/office/drawing/2014/main" id="{B4565897-8BB3-5100-3974-6AD7F31B9B20}"/>
              </a:ext>
            </a:extLst>
          </p:cNvPr>
          <p:cNvSpPr/>
          <p:nvPr/>
        </p:nvSpPr>
        <p:spPr>
          <a:xfrm>
            <a:off x="7696200" y="10287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70AD47">
              <a:alpha val="30000"/>
            </a:srgbClr>
          </a:solidFill>
          <a:ln w="6350">
            <a:solidFill>
              <a:srgbClr val="70AD47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1000" b="1" dirty="0">
                <a:solidFill>
                  <a:srgbClr val="70AD47"/>
                </a:solidFill>
                <a:latin typeface="Consolas"/>
              </a:rPr>
              <a:t>SID: 1000053</a:t>
            </a:r>
          </a:p>
        </p:txBody>
      </p:sp>
      <p:sp>
        <p:nvSpPr>
          <p:cNvPr id="2" name="Code2">
            <a:extLst>
              <a:ext uri="{FF2B5EF4-FFF2-40B4-BE49-F238E27FC236}">
                <a16:creationId xmlns:a16="http://schemas.microsoft.com/office/drawing/2014/main" id="{E4240642-948C-1FE9-4FB3-04BCF7E3E5B0}"/>
              </a:ext>
            </a:extLst>
          </p:cNvPr>
          <p:cNvSpPr/>
          <p:nvPr/>
        </p:nvSpPr>
        <p:spPr>
          <a:xfrm>
            <a:off x="203200" y="1397000"/>
            <a:ext cx="8737600" cy="124571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70AD47">
                <a:alpha val="70000"/>
              </a:srgbClr>
            </a:solidFill>
          </a:ln>
        </p:spPr>
        <p:txBody>
          <a:bodyPr wrap="square" lIns="114300" tIns="91440" rIns="114300" bIns="91440" anchor="t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b="1" spc="-20" dirty="0">
                <a:solidFill>
                  <a:srgbClr val="FF6B6B"/>
                </a:solidFill>
                <a:latin typeface="Consolas"/>
              </a:rPr>
              <a:t>alert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tcp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192.168.1.102 any -&gt; 192.168.1.107 80 (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msg: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"SQLi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 - Quote Breakout and Comment"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flow: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to_server,established;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pcre: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"/(%27|')s*(%23|--|%2D%2D)/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i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http_uri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classtype: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web-application-attack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>
                <a:solidFill>
                  <a:srgbClr val="00D4FF"/>
                </a:solidFill>
                <a:latin typeface="Consolas"/>
              </a:rPr>
              <a:t>sid:1000053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rev:1;)</a:t>
            </a:r>
          </a:p>
        </p:txBody>
      </p:sp>
      <p:sp>
        <p:nvSpPr>
          <p:cNvPr id="900" name="ALabel"/>
          <p:cNvSpPr/>
          <p:nvPr/>
        </p:nvSpPr>
        <p:spPr>
          <a:xfrm>
            <a:off x="203200" y="2820511"/>
            <a:ext cx="8661400" cy="190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900" b="1" spc="100" dirty="0">
                <a:solidFill>
                  <a:srgbClr val="5B7FBB"/>
                </a:solidFill>
                <a:latin typeface="Segoe UI"/>
              </a:rPr>
              <a:t>▸  RULE BREAKDOWN</a:t>
            </a:r>
          </a:p>
        </p:txBody>
      </p:sp>
      <p:sp>
        <p:nvSpPr>
          <p:cNvPr id="901" name="ACard"/>
          <p:cNvSpPr/>
          <p:nvPr/>
        </p:nvSpPr>
        <p:spPr>
          <a:xfrm>
            <a:off x="2032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6B6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AStrip"/>
          <p:cNvSpPr/>
          <p:nvPr/>
        </p:nvSpPr>
        <p:spPr>
          <a:xfrm>
            <a:off x="2032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Text"/>
          <p:cNvSpPr/>
          <p:nvPr/>
        </p:nvSpPr>
        <p:spPr>
          <a:xfrm>
            <a:off x="3175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6B6B"/>
                </a:solidFill>
                <a:latin typeface="Segoe UI"/>
              </a:rPr>
              <a:t>ACTION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alert — triggers an IDS alert event</a:t>
            </a:r>
          </a:p>
        </p:txBody>
      </p:sp>
      <p:sp>
        <p:nvSpPr>
          <p:cNvPr id="907" name="ACard"/>
          <p:cNvSpPr/>
          <p:nvPr/>
        </p:nvSpPr>
        <p:spPr>
          <a:xfrm>
            <a:off x="2032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AStrip"/>
          <p:cNvSpPr/>
          <p:nvPr/>
        </p:nvSpPr>
        <p:spPr>
          <a:xfrm>
            <a:off x="2032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AText"/>
          <p:cNvSpPr/>
          <p:nvPr/>
        </p:nvSpPr>
        <p:spPr>
          <a:xfrm>
            <a:off x="3175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D4FF"/>
                </a:solidFill>
                <a:latin typeface="Segoe UI"/>
              </a:rPr>
              <a:t>DETECT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pcre: single-quote followed by -- or # comment tokens</a:t>
            </a:r>
          </a:p>
        </p:txBody>
      </p:sp>
      <p:sp>
        <p:nvSpPr>
          <p:cNvPr id="910" name="ACard"/>
          <p:cNvSpPr/>
          <p:nvPr/>
        </p:nvSpPr>
        <p:spPr>
          <a:xfrm>
            <a:off x="45974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D93D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AStrip"/>
          <p:cNvSpPr/>
          <p:nvPr/>
        </p:nvSpPr>
        <p:spPr>
          <a:xfrm>
            <a:off x="45974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AText"/>
          <p:cNvSpPr/>
          <p:nvPr/>
        </p:nvSpPr>
        <p:spPr>
          <a:xfrm>
            <a:off x="47117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D93D"/>
                </a:solidFill>
                <a:latin typeface="Segoe UI"/>
              </a:rPr>
              <a:t>CLASSIFY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web-application-attack  |  sid:1000053  |  rev:1</a:t>
            </a:r>
          </a:p>
        </p:txBody>
      </p:sp>
      <p:sp>
        <p:nvSpPr>
          <p:cNvPr id="3" name="ACard">
            <a:extLst>
              <a:ext uri="{FF2B5EF4-FFF2-40B4-BE49-F238E27FC236}">
                <a16:creationId xmlns:a16="http://schemas.microsoft.com/office/drawing/2014/main" id="{F3ADF611-1416-B81D-6206-D415FF19224C}"/>
              </a:ext>
            </a:extLst>
          </p:cNvPr>
          <p:cNvSpPr/>
          <p:nvPr/>
        </p:nvSpPr>
        <p:spPr>
          <a:xfrm>
            <a:off x="45974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70AD4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AStrip">
            <a:extLst>
              <a:ext uri="{FF2B5EF4-FFF2-40B4-BE49-F238E27FC236}">
                <a16:creationId xmlns:a16="http://schemas.microsoft.com/office/drawing/2014/main" id="{FD1A6F17-7F17-AA86-0DF4-B2E6158101C9}"/>
              </a:ext>
            </a:extLst>
          </p:cNvPr>
          <p:cNvSpPr/>
          <p:nvPr/>
        </p:nvSpPr>
        <p:spPr>
          <a:xfrm>
            <a:off x="45974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AText">
            <a:extLst>
              <a:ext uri="{FF2B5EF4-FFF2-40B4-BE49-F238E27FC236}">
                <a16:creationId xmlns:a16="http://schemas.microsoft.com/office/drawing/2014/main" id="{1F4018DA-47DF-CDDC-2253-F0F64AE3354B}"/>
              </a:ext>
            </a:extLst>
          </p:cNvPr>
          <p:cNvSpPr/>
          <p:nvPr/>
        </p:nvSpPr>
        <p:spPr>
          <a:xfrm>
            <a:off x="47117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70AD47"/>
                </a:solidFill>
                <a:latin typeface="Segoe UI"/>
              </a:rPr>
              <a:t>FLOW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C4D0E0"/>
                </a:solidFill>
                <a:latin typeface="Segoe UI"/>
              </a:rPr>
              <a:t>to_server</a:t>
            </a:r>
            <a:r>
              <a:rPr lang="en-US" sz="1100" dirty="0">
                <a:solidFill>
                  <a:srgbClr val="C4D0E0"/>
                </a:solidFill>
                <a:latin typeface="Segoe UI"/>
              </a:rPr>
              <a:t>, established</a:t>
            </a:r>
          </a:p>
        </p:txBody>
      </p:sp>
    </p:spTree>
    <p:extLst>
      <p:ext uri="{BB962C8B-B14F-4D97-AF65-F5344CB8AC3E}">
        <p14:creationId xmlns:p14="http://schemas.microsoft.com/office/powerpoint/2010/main" val="3476922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53ED7-3F37-A632-86BD-3414F20A0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Line">
            <a:extLst>
              <a:ext uri="{FF2B5EF4-FFF2-40B4-BE49-F238E27FC236}">
                <a16:creationId xmlns:a16="http://schemas.microsoft.com/office/drawing/2014/main" id="{0DDD1BAF-F151-ADC1-7CD3-AB15F77DAC19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1" name="LeftLine">
            <a:extLst>
              <a:ext uri="{FF2B5EF4-FFF2-40B4-BE49-F238E27FC236}">
                <a16:creationId xmlns:a16="http://schemas.microsoft.com/office/drawing/2014/main" id="{25413F99-27F5-CE88-DC4F-6ACDDD4F70E7}"/>
              </a:ext>
            </a:extLst>
          </p:cNvPr>
          <p:cNvSpPr/>
          <p:nvPr/>
        </p:nvSpPr>
        <p:spPr>
          <a:xfrm>
            <a:off x="0" y="50800"/>
            <a:ext cx="50800" cy="50419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TitleBar">
            <a:extLst>
              <a:ext uri="{FF2B5EF4-FFF2-40B4-BE49-F238E27FC236}">
                <a16:creationId xmlns:a16="http://schemas.microsoft.com/office/drawing/2014/main" id="{E29543FB-99D5-FA8F-AA38-1F96CFBBD2EF}"/>
              </a:ext>
            </a:extLst>
          </p:cNvPr>
          <p:cNvSpPr/>
          <p:nvPr/>
        </p:nvSpPr>
        <p:spPr>
          <a:xfrm>
            <a:off x="177800" y="152400"/>
            <a:ext cx="8788400" cy="6604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D3B66"/>
              </a:gs>
              <a:gs pos="100000">
                <a:srgbClr val="14274E"/>
              </a:gs>
            </a:gsLst>
            <a:lin ang="0" scaled="1"/>
          </a:gradFill>
          <a:ln w="12700">
            <a:solidFill>
              <a:srgbClr val="00D4FF">
                <a:alpha val="50000"/>
              </a:srgbClr>
            </a:solidFill>
          </a:ln>
        </p:spPr>
        <p:txBody>
          <a:bodyPr lIns="180000" tIns="0" rIns="91440" bIns="0" anchor="ctr" anchorCtr="0"/>
          <a:lstStyle/>
          <a:p>
            <a:pPr algn="l"/>
            <a:r>
              <a:rPr lang="en-US" sz="2000" b="1" dirty="0">
                <a:solidFill>
                  <a:srgbClr val="00D4FF"/>
                </a:solidFill>
                <a:latin typeface="Consolas"/>
              </a:rPr>
              <a:t>RULE SET 3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Data Exfiltration (UNION-Based)</a:t>
            </a:r>
          </a:p>
        </p:txBody>
      </p:sp>
      <p:sp>
        <p:nvSpPr>
          <p:cNvPr id="54" name="AccentBar">
            <a:extLst>
              <a:ext uri="{FF2B5EF4-FFF2-40B4-BE49-F238E27FC236}">
                <a16:creationId xmlns:a16="http://schemas.microsoft.com/office/drawing/2014/main" id="{5D8A2974-F201-6D5A-FADB-15D3251FE04B}"/>
              </a:ext>
            </a:extLst>
          </p:cNvPr>
          <p:cNvSpPr/>
          <p:nvPr/>
        </p:nvSpPr>
        <p:spPr>
          <a:xfrm>
            <a:off x="177800" y="838200"/>
            <a:ext cx="8788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60" name="Badge1">
            <a:extLst>
              <a:ext uri="{FF2B5EF4-FFF2-40B4-BE49-F238E27FC236}">
                <a16:creationId xmlns:a16="http://schemas.microsoft.com/office/drawing/2014/main" id="{E6C7C67B-FC81-7BA9-CC88-CB2A1CC5396B}"/>
              </a:ext>
            </a:extLst>
          </p:cNvPr>
          <p:cNvSpPr/>
          <p:nvPr/>
        </p:nvSpPr>
        <p:spPr>
          <a:xfrm>
            <a:off x="203200" y="1016000"/>
            <a:ext cx="304800" cy="30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A0E1A"/>
                </a:solidFill>
                <a:latin typeface="Segoe UI"/>
              </a:rPr>
              <a:t>1</a:t>
            </a:r>
          </a:p>
        </p:txBody>
      </p:sp>
      <p:sp>
        <p:nvSpPr>
          <p:cNvPr id="61" name="Label1">
            <a:extLst>
              <a:ext uri="{FF2B5EF4-FFF2-40B4-BE49-F238E27FC236}">
                <a16:creationId xmlns:a16="http://schemas.microsoft.com/office/drawing/2014/main" id="{5E897D00-50FD-4469-8B91-2CE47079ECC3}"/>
              </a:ext>
            </a:extLst>
          </p:cNvPr>
          <p:cNvSpPr/>
          <p:nvPr/>
        </p:nvSpPr>
        <p:spPr>
          <a:xfrm>
            <a:off x="584200" y="1016000"/>
            <a:ext cx="7035800" cy="304800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Segoe UI"/>
              </a:rPr>
              <a:t>UNION SELECT Execution in URI</a:t>
            </a:r>
          </a:p>
        </p:txBody>
      </p:sp>
      <p:sp>
        <p:nvSpPr>
          <p:cNvPr id="80" name="SID1">
            <a:extLst>
              <a:ext uri="{FF2B5EF4-FFF2-40B4-BE49-F238E27FC236}">
                <a16:creationId xmlns:a16="http://schemas.microsoft.com/office/drawing/2014/main" id="{9B10BAB6-280A-1F1A-B034-C9F15BBEE5BA}"/>
              </a:ext>
            </a:extLst>
          </p:cNvPr>
          <p:cNvSpPr/>
          <p:nvPr/>
        </p:nvSpPr>
        <p:spPr>
          <a:xfrm>
            <a:off x="7696200" y="10287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70AD47">
              <a:alpha val="30000"/>
            </a:srgbClr>
          </a:solidFill>
          <a:ln w="6350">
            <a:solidFill>
              <a:srgbClr val="70AD47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1000" b="1" dirty="0">
                <a:solidFill>
                  <a:srgbClr val="70AD47"/>
                </a:solidFill>
                <a:latin typeface="Consolas"/>
              </a:rPr>
              <a:t>SID: 1000054</a:t>
            </a:r>
          </a:p>
        </p:txBody>
      </p:sp>
      <p:sp>
        <p:nvSpPr>
          <p:cNvPr id="2" name="Code2">
            <a:extLst>
              <a:ext uri="{FF2B5EF4-FFF2-40B4-BE49-F238E27FC236}">
                <a16:creationId xmlns:a16="http://schemas.microsoft.com/office/drawing/2014/main" id="{6C8FB0AC-F54A-EA4A-13DE-258A48E0D9D9}"/>
              </a:ext>
            </a:extLst>
          </p:cNvPr>
          <p:cNvSpPr/>
          <p:nvPr/>
        </p:nvSpPr>
        <p:spPr>
          <a:xfrm>
            <a:off x="203200" y="1397000"/>
            <a:ext cx="8737600" cy="1456849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70AD47">
                <a:alpha val="70000"/>
              </a:srgbClr>
            </a:solidFill>
          </a:ln>
        </p:spPr>
        <p:txBody>
          <a:bodyPr wrap="square" lIns="114300" tIns="91440" rIns="114300" bIns="91440" anchor="t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b="1" spc="-20" dirty="0">
                <a:solidFill>
                  <a:srgbClr val="FF6B6B"/>
                </a:solidFill>
                <a:latin typeface="Consolas"/>
              </a:rPr>
              <a:t>alert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tcp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192.168.1.102 any -&gt; 192.168.1.107 80 (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msg: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"SQLi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 - UNION SELECT Execution"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flow: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to_server,established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content: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"union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nocase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http_uri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content:</a:t>
            </a:r>
            <a:r>
              <a:rPr lang="en-US" sz="1500" spc="-20" dirty="0" err="1">
                <a:solidFill>
                  <a:srgbClr val="FFD93D"/>
                </a:solidFill>
                <a:latin typeface="Consolas"/>
              </a:rPr>
              <a:t>"select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 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nocase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http_uri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distance:0;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 err="1">
                <a:solidFill>
                  <a:srgbClr val="70AD47"/>
                </a:solidFill>
                <a:latin typeface="Consolas"/>
              </a:rPr>
              <a:t>classtype:</a:t>
            </a:r>
            <a:r>
              <a:rPr lang="en-US" sz="1500" spc="-20" dirty="0" err="1">
                <a:solidFill>
                  <a:srgbClr val="E0E0E0"/>
                </a:solidFill>
                <a:latin typeface="Consolas"/>
              </a:rPr>
              <a:t>web-application-attack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</a:t>
            </a:r>
            <a:r>
              <a:rPr lang="en-US" sz="1500" spc="-20" dirty="0">
                <a:solidFill>
                  <a:srgbClr val="00D4FF"/>
                </a:solidFill>
                <a:latin typeface="Consolas"/>
              </a:rPr>
              <a:t>sid:1000054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rev:1;)</a:t>
            </a:r>
          </a:p>
        </p:txBody>
      </p:sp>
      <p:sp>
        <p:nvSpPr>
          <p:cNvPr id="900" name="ALabel"/>
          <p:cNvSpPr/>
          <p:nvPr/>
        </p:nvSpPr>
        <p:spPr>
          <a:xfrm>
            <a:off x="203200" y="3031649"/>
            <a:ext cx="8661400" cy="190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900" b="1" spc="100" dirty="0">
                <a:solidFill>
                  <a:srgbClr val="5B7FBB"/>
                </a:solidFill>
                <a:latin typeface="Segoe UI"/>
              </a:rPr>
              <a:t>▸  RULE BREAKDOWN</a:t>
            </a:r>
          </a:p>
        </p:txBody>
      </p:sp>
      <p:sp>
        <p:nvSpPr>
          <p:cNvPr id="901" name="ACard"/>
          <p:cNvSpPr/>
          <p:nvPr/>
        </p:nvSpPr>
        <p:spPr>
          <a:xfrm>
            <a:off x="203200" y="3260249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6B6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AStrip"/>
          <p:cNvSpPr/>
          <p:nvPr/>
        </p:nvSpPr>
        <p:spPr>
          <a:xfrm>
            <a:off x="203200" y="3361849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Text"/>
          <p:cNvSpPr/>
          <p:nvPr/>
        </p:nvSpPr>
        <p:spPr>
          <a:xfrm>
            <a:off x="317500" y="331104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6B6B"/>
                </a:solidFill>
                <a:latin typeface="Segoe UI"/>
              </a:rPr>
              <a:t>ACTION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alert — triggers an IDS alert event</a:t>
            </a:r>
          </a:p>
        </p:txBody>
      </p:sp>
      <p:sp>
        <p:nvSpPr>
          <p:cNvPr id="907" name="ACard"/>
          <p:cNvSpPr/>
          <p:nvPr/>
        </p:nvSpPr>
        <p:spPr>
          <a:xfrm>
            <a:off x="203200" y="3895249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AStrip"/>
          <p:cNvSpPr/>
          <p:nvPr/>
        </p:nvSpPr>
        <p:spPr>
          <a:xfrm>
            <a:off x="203200" y="3996849"/>
            <a:ext cx="38100" cy="355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AText"/>
          <p:cNvSpPr/>
          <p:nvPr/>
        </p:nvSpPr>
        <p:spPr>
          <a:xfrm>
            <a:off x="317500" y="394604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D4FF"/>
                </a:solidFill>
                <a:latin typeface="Segoe UI"/>
              </a:rPr>
              <a:t>DETECT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content: "union" then "select" chained in URI (nocase)</a:t>
            </a:r>
          </a:p>
        </p:txBody>
      </p:sp>
      <p:sp>
        <p:nvSpPr>
          <p:cNvPr id="910" name="ACard"/>
          <p:cNvSpPr/>
          <p:nvPr/>
        </p:nvSpPr>
        <p:spPr>
          <a:xfrm>
            <a:off x="4597400" y="3895249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D93D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AStrip"/>
          <p:cNvSpPr/>
          <p:nvPr/>
        </p:nvSpPr>
        <p:spPr>
          <a:xfrm>
            <a:off x="4597400" y="3996849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AText"/>
          <p:cNvSpPr/>
          <p:nvPr/>
        </p:nvSpPr>
        <p:spPr>
          <a:xfrm>
            <a:off x="4711700" y="394604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D93D"/>
                </a:solidFill>
                <a:latin typeface="Segoe UI"/>
              </a:rPr>
              <a:t>CLASSIFY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web-application-attack  |  sid:1000054  |  rev:1</a:t>
            </a:r>
          </a:p>
        </p:txBody>
      </p:sp>
      <p:sp>
        <p:nvSpPr>
          <p:cNvPr id="3" name="ACard">
            <a:extLst>
              <a:ext uri="{FF2B5EF4-FFF2-40B4-BE49-F238E27FC236}">
                <a16:creationId xmlns:a16="http://schemas.microsoft.com/office/drawing/2014/main" id="{82116440-ABE1-5147-9F93-A8494AE16521}"/>
              </a:ext>
            </a:extLst>
          </p:cNvPr>
          <p:cNvSpPr/>
          <p:nvPr/>
        </p:nvSpPr>
        <p:spPr>
          <a:xfrm>
            <a:off x="4597400" y="3247549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70AD4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AStrip">
            <a:extLst>
              <a:ext uri="{FF2B5EF4-FFF2-40B4-BE49-F238E27FC236}">
                <a16:creationId xmlns:a16="http://schemas.microsoft.com/office/drawing/2014/main" id="{78D25AF7-E194-2455-BCD2-9726F3D968D5}"/>
              </a:ext>
            </a:extLst>
          </p:cNvPr>
          <p:cNvSpPr/>
          <p:nvPr/>
        </p:nvSpPr>
        <p:spPr>
          <a:xfrm>
            <a:off x="4597400" y="3349149"/>
            <a:ext cx="38100" cy="3556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AText">
            <a:extLst>
              <a:ext uri="{FF2B5EF4-FFF2-40B4-BE49-F238E27FC236}">
                <a16:creationId xmlns:a16="http://schemas.microsoft.com/office/drawing/2014/main" id="{BBE84977-FAC6-A6DE-45AF-343BD55F8857}"/>
              </a:ext>
            </a:extLst>
          </p:cNvPr>
          <p:cNvSpPr/>
          <p:nvPr/>
        </p:nvSpPr>
        <p:spPr>
          <a:xfrm>
            <a:off x="4711700" y="329834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70AD47"/>
                </a:solidFill>
                <a:latin typeface="Segoe UI"/>
              </a:rPr>
              <a:t>FLOW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C4D0E0"/>
                </a:solidFill>
                <a:latin typeface="Segoe UI"/>
              </a:rPr>
              <a:t>to_server</a:t>
            </a:r>
            <a:r>
              <a:rPr lang="en-US" sz="1100" dirty="0">
                <a:solidFill>
                  <a:srgbClr val="C4D0E0"/>
                </a:solidFill>
                <a:latin typeface="Segoe UI"/>
              </a:rPr>
              <a:t>, established</a:t>
            </a:r>
          </a:p>
        </p:txBody>
      </p:sp>
    </p:spTree>
    <p:extLst>
      <p:ext uri="{BB962C8B-B14F-4D97-AF65-F5344CB8AC3E}">
        <p14:creationId xmlns:p14="http://schemas.microsoft.com/office/powerpoint/2010/main" val="1272017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6D9A4-8E15-14E6-2CEC-B658C921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Line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1" name="LeftLine"/>
          <p:cNvSpPr/>
          <p:nvPr/>
        </p:nvSpPr>
        <p:spPr>
          <a:xfrm>
            <a:off x="0" y="50800"/>
            <a:ext cx="50800" cy="50419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TitleBar"/>
          <p:cNvSpPr/>
          <p:nvPr/>
        </p:nvSpPr>
        <p:spPr>
          <a:xfrm>
            <a:off x="177800" y="152400"/>
            <a:ext cx="8788400" cy="6604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D3B66"/>
              </a:gs>
              <a:gs pos="100000">
                <a:srgbClr val="14274E"/>
              </a:gs>
            </a:gsLst>
            <a:lin ang="0" scaled="1"/>
          </a:gradFill>
          <a:ln w="12700">
            <a:solidFill>
              <a:srgbClr val="00D4FF">
                <a:alpha val="50000"/>
              </a:srgbClr>
            </a:solidFill>
          </a:ln>
        </p:spPr>
        <p:txBody>
          <a:bodyPr lIns="180000" tIns="0" rIns="91440" bIns="0" anchor="ctr" anchorCtr="0"/>
          <a:lstStyle/>
          <a:p>
            <a:pPr algn="l"/>
            <a:r>
              <a:rPr lang="en-US" sz="2000" b="1" dirty="0">
                <a:solidFill>
                  <a:srgbClr val="00D4FF"/>
                </a:solidFill>
                <a:latin typeface="Consolas"/>
              </a:rPr>
              <a:t>RULE SET 3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Data Exfiltration (UNION-Based)</a:t>
            </a:r>
          </a:p>
        </p:txBody>
      </p:sp>
      <p:sp>
        <p:nvSpPr>
          <p:cNvPr id="54" name="AccentBar"/>
          <p:cNvSpPr/>
          <p:nvPr/>
        </p:nvSpPr>
        <p:spPr>
          <a:xfrm>
            <a:off x="177800" y="838200"/>
            <a:ext cx="8788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0" name="Badge2"/>
          <p:cNvSpPr/>
          <p:nvPr/>
        </p:nvSpPr>
        <p:spPr>
          <a:xfrm>
            <a:off x="203200" y="1016000"/>
            <a:ext cx="304800" cy="30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A0E1A"/>
                </a:solidFill>
                <a:latin typeface="Segoe UI"/>
              </a:rPr>
              <a:t>2</a:t>
            </a:r>
          </a:p>
        </p:txBody>
      </p:sp>
      <p:sp>
        <p:nvSpPr>
          <p:cNvPr id="71" name="Label2"/>
          <p:cNvSpPr/>
          <p:nvPr/>
        </p:nvSpPr>
        <p:spPr>
          <a:xfrm>
            <a:off x="584200" y="1016000"/>
            <a:ext cx="7035800" cy="304800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Segoe UI"/>
              </a:rPr>
              <a:t>Database Structure Mapping</a:t>
            </a:r>
            <a:r>
              <a:rPr lang="en-US" sz="1200" dirty="0">
                <a:solidFill>
                  <a:srgbClr val="808080"/>
                </a:solidFill>
                <a:latin typeface="Segoe UI"/>
              </a:rPr>
              <a:t>   targeting information_schema</a:t>
            </a:r>
          </a:p>
        </p:txBody>
      </p:sp>
      <p:sp>
        <p:nvSpPr>
          <p:cNvPr id="81" name="SID2"/>
          <p:cNvSpPr/>
          <p:nvPr/>
        </p:nvSpPr>
        <p:spPr>
          <a:xfrm>
            <a:off x="7696200" y="10287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70AD47">
              <a:alpha val="30000"/>
            </a:srgbClr>
          </a:solidFill>
          <a:ln w="6350">
            <a:solidFill>
              <a:srgbClr val="70AD47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1000" b="1" dirty="0">
                <a:solidFill>
                  <a:srgbClr val="70AD47"/>
                </a:solidFill>
                <a:latin typeface="Consolas"/>
              </a:rPr>
              <a:t>SID: 1000055</a:t>
            </a:r>
          </a:p>
        </p:txBody>
      </p:sp>
      <p:sp>
        <p:nvSpPr>
          <p:cNvPr id="3" name="Code2">
            <a:extLst>
              <a:ext uri="{FF2B5EF4-FFF2-40B4-BE49-F238E27FC236}">
                <a16:creationId xmlns:a16="http://schemas.microsoft.com/office/drawing/2014/main" id="{2B419822-40C6-8E6C-1491-1E792193A49A}"/>
              </a:ext>
            </a:extLst>
          </p:cNvPr>
          <p:cNvSpPr/>
          <p:nvPr/>
        </p:nvSpPr>
        <p:spPr>
          <a:xfrm>
            <a:off x="203200" y="1397000"/>
            <a:ext cx="8737600" cy="124571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70AD47">
                <a:alpha val="70000"/>
              </a:srgbClr>
            </a:solidFill>
          </a:ln>
        </p:spPr>
        <p:txBody>
          <a:bodyPr wrap="square" lIns="114300" tIns="91440" rIns="114300" bIns="91440" anchor="t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b="1" spc="-20">
                <a:solidFill>
                  <a:srgbClr val="FF6B6B"/>
                </a:solidFill>
                <a:latin typeface="Consolas"/>
              </a:rPr>
              <a:t>alert</a:t>
            </a:r>
            <a:r>
              <a:rPr lang="en-US" sz="1500" spc="-20">
                <a:solidFill>
                  <a:srgbClr val="E0E0E0"/>
                </a:solidFill>
                <a:latin typeface="Consolas"/>
              </a:rPr>
              <a:t> tcp 192.168.1.102 any -&gt; 192.168.1.107 80 (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>
                <a:solidFill>
                  <a:srgbClr val="70AD47"/>
                </a:solidFill>
                <a:latin typeface="Consolas"/>
              </a:rPr>
              <a:t>msg:</a:t>
            </a:r>
            <a:r>
              <a:rPr lang="en-US" sz="1500" spc="-20">
                <a:solidFill>
                  <a:srgbClr val="FFD93D"/>
                </a:solidFill>
                <a:latin typeface="Consolas"/>
              </a:rPr>
              <a:t>"SQLi - info_schema Target"</a:t>
            </a:r>
            <a:r>
              <a:rPr lang="en-US" sz="1500" spc="-20">
                <a:solidFill>
                  <a:srgbClr val="E0E0E0"/>
                </a:solidFill>
                <a:latin typeface="Consolas"/>
              </a:rPr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>
                <a:solidFill>
                  <a:srgbClr val="70AD47"/>
                </a:solidFill>
                <a:latin typeface="Consolas"/>
              </a:rPr>
              <a:t>flow:</a:t>
            </a:r>
            <a:r>
              <a:rPr lang="en-US" sz="1500" spc="-20">
                <a:solidFill>
                  <a:srgbClr val="E0E0E0"/>
                </a:solidFill>
                <a:latin typeface="Consolas"/>
              </a:rPr>
              <a:t>to_server,established;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>
                <a:solidFill>
                  <a:srgbClr val="70AD47"/>
                </a:solidFill>
                <a:latin typeface="Consolas"/>
              </a:rPr>
              <a:t>content:</a:t>
            </a:r>
            <a:r>
              <a:rPr lang="en-US" sz="1500" spc="-20">
                <a:solidFill>
                  <a:srgbClr val="FFD93D"/>
                </a:solidFill>
                <a:latin typeface="Consolas"/>
              </a:rPr>
              <a:t>"information_schema"</a:t>
            </a:r>
            <a:r>
              <a:rPr lang="en-US" sz="1500" spc="-20">
                <a:solidFill>
                  <a:srgbClr val="E0E0E0"/>
                </a:solidFill>
                <a:latin typeface="Consolas"/>
              </a:rPr>
              <a:t>; nocase; http_uri;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-US" sz="1500" spc="-2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>
                <a:solidFill>
                  <a:srgbClr val="70AD47"/>
                </a:solidFill>
                <a:latin typeface="Consolas"/>
              </a:rPr>
              <a:t>classtype:</a:t>
            </a:r>
            <a:r>
              <a:rPr lang="en-US" sz="1500" spc="-20">
                <a:solidFill>
                  <a:srgbClr val="E0E0E0"/>
                </a:solidFill>
                <a:latin typeface="Consolas"/>
              </a:rPr>
              <a:t>web-application-attack; </a:t>
            </a:r>
            <a:r>
              <a:rPr lang="en-US" sz="1500" spc="-20">
                <a:solidFill>
                  <a:srgbClr val="00D4FF"/>
                </a:solidFill>
                <a:latin typeface="Consolas"/>
              </a:rPr>
              <a:t>sid:1000055</a:t>
            </a:r>
            <a:r>
              <a:rPr lang="en-US" sz="1500" spc="-20">
                <a:solidFill>
                  <a:srgbClr val="E0E0E0"/>
                </a:solidFill>
                <a:latin typeface="Consolas"/>
              </a:rPr>
              <a:t>; rev:1;)</a:t>
            </a:r>
            <a:endParaRPr lang="en-US" sz="1500" spc="-20" dirty="0">
              <a:solidFill>
                <a:srgbClr val="E0E0E0"/>
              </a:solidFill>
              <a:latin typeface="Consolas"/>
            </a:endParaRPr>
          </a:p>
        </p:txBody>
      </p:sp>
      <p:sp>
        <p:nvSpPr>
          <p:cNvPr id="900" name="ALabel"/>
          <p:cNvSpPr/>
          <p:nvPr/>
        </p:nvSpPr>
        <p:spPr>
          <a:xfrm>
            <a:off x="203200" y="2820511"/>
            <a:ext cx="8661400" cy="190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900" b="1" spc="100" dirty="0">
                <a:solidFill>
                  <a:srgbClr val="5B7FBB"/>
                </a:solidFill>
                <a:latin typeface="Segoe UI"/>
              </a:rPr>
              <a:t>▸  RULE BREAKDOWN</a:t>
            </a:r>
          </a:p>
        </p:txBody>
      </p:sp>
      <p:sp>
        <p:nvSpPr>
          <p:cNvPr id="901" name="ACard"/>
          <p:cNvSpPr/>
          <p:nvPr/>
        </p:nvSpPr>
        <p:spPr>
          <a:xfrm>
            <a:off x="2032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6B6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AStrip"/>
          <p:cNvSpPr/>
          <p:nvPr/>
        </p:nvSpPr>
        <p:spPr>
          <a:xfrm>
            <a:off x="2032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Text"/>
          <p:cNvSpPr/>
          <p:nvPr/>
        </p:nvSpPr>
        <p:spPr>
          <a:xfrm>
            <a:off x="3175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6B6B"/>
                </a:solidFill>
                <a:latin typeface="Segoe UI"/>
              </a:rPr>
              <a:t>ACTION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alert — triggers an IDS alert event</a:t>
            </a:r>
          </a:p>
        </p:txBody>
      </p:sp>
      <p:sp>
        <p:nvSpPr>
          <p:cNvPr id="907" name="ACard"/>
          <p:cNvSpPr/>
          <p:nvPr/>
        </p:nvSpPr>
        <p:spPr>
          <a:xfrm>
            <a:off x="2032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AStrip"/>
          <p:cNvSpPr/>
          <p:nvPr/>
        </p:nvSpPr>
        <p:spPr>
          <a:xfrm>
            <a:off x="2032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AText"/>
          <p:cNvSpPr/>
          <p:nvPr/>
        </p:nvSpPr>
        <p:spPr>
          <a:xfrm>
            <a:off x="3175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D4FF"/>
                </a:solidFill>
                <a:latin typeface="Segoe UI"/>
              </a:rPr>
              <a:t>DETECT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content: "information_schema" in URI (nocase)</a:t>
            </a:r>
          </a:p>
        </p:txBody>
      </p:sp>
      <p:sp>
        <p:nvSpPr>
          <p:cNvPr id="910" name="ACard"/>
          <p:cNvSpPr/>
          <p:nvPr/>
        </p:nvSpPr>
        <p:spPr>
          <a:xfrm>
            <a:off x="45974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D93D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AStrip"/>
          <p:cNvSpPr/>
          <p:nvPr/>
        </p:nvSpPr>
        <p:spPr>
          <a:xfrm>
            <a:off x="45974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AText"/>
          <p:cNvSpPr/>
          <p:nvPr/>
        </p:nvSpPr>
        <p:spPr>
          <a:xfrm>
            <a:off x="47117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D93D"/>
                </a:solidFill>
                <a:latin typeface="Segoe UI"/>
              </a:rPr>
              <a:t>CLASSIFY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web-application-attack  |  sid:1000055  |  rev:1</a:t>
            </a:r>
          </a:p>
        </p:txBody>
      </p:sp>
      <p:sp>
        <p:nvSpPr>
          <p:cNvPr id="2" name="ACard">
            <a:extLst>
              <a:ext uri="{FF2B5EF4-FFF2-40B4-BE49-F238E27FC236}">
                <a16:creationId xmlns:a16="http://schemas.microsoft.com/office/drawing/2014/main" id="{28AD4161-D7DE-93CD-8289-2343D24A0492}"/>
              </a:ext>
            </a:extLst>
          </p:cNvPr>
          <p:cNvSpPr/>
          <p:nvPr/>
        </p:nvSpPr>
        <p:spPr>
          <a:xfrm>
            <a:off x="45974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70AD4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AStrip">
            <a:extLst>
              <a:ext uri="{FF2B5EF4-FFF2-40B4-BE49-F238E27FC236}">
                <a16:creationId xmlns:a16="http://schemas.microsoft.com/office/drawing/2014/main" id="{06CECAE7-C9B1-952B-A179-45ED171CDFC0}"/>
              </a:ext>
            </a:extLst>
          </p:cNvPr>
          <p:cNvSpPr/>
          <p:nvPr/>
        </p:nvSpPr>
        <p:spPr>
          <a:xfrm>
            <a:off x="45974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AText">
            <a:extLst>
              <a:ext uri="{FF2B5EF4-FFF2-40B4-BE49-F238E27FC236}">
                <a16:creationId xmlns:a16="http://schemas.microsoft.com/office/drawing/2014/main" id="{7A1299B7-19AA-C51E-7606-96D7B5ED3759}"/>
              </a:ext>
            </a:extLst>
          </p:cNvPr>
          <p:cNvSpPr/>
          <p:nvPr/>
        </p:nvSpPr>
        <p:spPr>
          <a:xfrm>
            <a:off x="47117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70AD47"/>
                </a:solidFill>
                <a:latin typeface="Segoe UI"/>
              </a:rPr>
              <a:t>FLOW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C4D0E0"/>
                </a:solidFill>
                <a:latin typeface="Segoe UI"/>
              </a:rPr>
              <a:t>to_server</a:t>
            </a:r>
            <a:r>
              <a:rPr lang="en-US" sz="1100" dirty="0">
                <a:solidFill>
                  <a:srgbClr val="C4D0E0"/>
                </a:solidFill>
                <a:latin typeface="Segoe UI"/>
              </a:rPr>
              <a:t>, established</a:t>
            </a:r>
          </a:p>
        </p:txBody>
      </p:sp>
    </p:spTree>
    <p:extLst>
      <p:ext uri="{BB962C8B-B14F-4D97-AF65-F5344CB8AC3E}">
        <p14:creationId xmlns:p14="http://schemas.microsoft.com/office/powerpoint/2010/main" val="465173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589C7-3B54-21FA-4E19-2575D463B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Line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1" name="LeftLine"/>
          <p:cNvSpPr/>
          <p:nvPr/>
        </p:nvSpPr>
        <p:spPr>
          <a:xfrm>
            <a:off x="0" y="50800"/>
            <a:ext cx="50800" cy="50419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TitleBar"/>
          <p:cNvSpPr/>
          <p:nvPr/>
        </p:nvSpPr>
        <p:spPr>
          <a:xfrm>
            <a:off x="177800" y="152400"/>
            <a:ext cx="8788400" cy="6604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D3B66"/>
              </a:gs>
              <a:gs pos="100000">
                <a:srgbClr val="14274E"/>
              </a:gs>
            </a:gsLst>
            <a:lin ang="0" scaled="1"/>
          </a:gradFill>
          <a:ln w="12700">
            <a:solidFill>
              <a:srgbClr val="00D4FF">
                <a:alpha val="50000"/>
              </a:srgbClr>
            </a:solidFill>
          </a:ln>
        </p:spPr>
        <p:txBody>
          <a:bodyPr lIns="180000" tIns="0" rIns="91440" bIns="0" anchor="ctr" anchorCtr="0"/>
          <a:lstStyle/>
          <a:p>
            <a:pPr algn="l"/>
            <a:r>
              <a:rPr lang="en-US" sz="2000" b="1" dirty="0">
                <a:solidFill>
                  <a:srgbClr val="00D4FF"/>
                </a:solidFill>
                <a:latin typeface="Consolas"/>
              </a:rPr>
              <a:t>RULE SET 4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Time-Based Blind SQLi Detection</a:t>
            </a:r>
          </a:p>
        </p:txBody>
      </p:sp>
      <p:sp>
        <p:nvSpPr>
          <p:cNvPr id="54" name="AccentBar"/>
          <p:cNvSpPr/>
          <p:nvPr/>
        </p:nvSpPr>
        <p:spPr>
          <a:xfrm>
            <a:off x="177800" y="838200"/>
            <a:ext cx="8788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60" name="Badge1"/>
          <p:cNvSpPr/>
          <p:nvPr/>
        </p:nvSpPr>
        <p:spPr>
          <a:xfrm>
            <a:off x="203200" y="1016000"/>
            <a:ext cx="304800" cy="30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A0E1A"/>
                </a:solidFill>
                <a:latin typeface="Segoe UI"/>
              </a:rPr>
              <a:t>1</a:t>
            </a:r>
          </a:p>
        </p:txBody>
      </p:sp>
      <p:sp>
        <p:nvSpPr>
          <p:cNvPr id="61" name="Label1"/>
          <p:cNvSpPr/>
          <p:nvPr/>
        </p:nvSpPr>
        <p:spPr>
          <a:xfrm>
            <a:off x="584200" y="1016000"/>
            <a:ext cx="7035800" cy="304800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Segoe UI"/>
              </a:rPr>
              <a:t>MySQL SLEEP() Command Detection</a:t>
            </a:r>
          </a:p>
        </p:txBody>
      </p:sp>
      <p:sp>
        <p:nvSpPr>
          <p:cNvPr id="62" name="Code1"/>
          <p:cNvSpPr/>
          <p:nvPr/>
        </p:nvSpPr>
        <p:spPr>
          <a:xfrm>
            <a:off x="203200" y="1397000"/>
            <a:ext cx="8737600" cy="124571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70AD47">
                <a:alpha val="70000"/>
              </a:srgbClr>
            </a:solidFill>
          </a:ln>
        </p:spPr>
        <p:txBody>
          <a:bodyPr wrap="square" lIns="114300" tIns="91440" rIns="114300" bIns="91440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b="1" spc="-20" dirty="0">
                <a:solidFill>
                  <a:srgbClr val="FF6B6B"/>
                </a:solidFill>
                <a:latin typeface="Consolas"/>
              </a:rPr>
              <a:t>alert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tcp 192.168.1.102 any -&gt; 192.168.1.107 80 (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msg: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"SQLi - Time-Based Blind (SLEEP)"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flow: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to_server,established;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pcre: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"/(%27|').*sleep(s|%20)*(/i"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http_uri;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classtype: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web-application-attack; </a:t>
            </a:r>
            <a:r>
              <a:rPr lang="en-US" sz="1500" spc="-20" dirty="0">
                <a:solidFill>
                  <a:srgbClr val="00D4FF"/>
                </a:solidFill>
                <a:latin typeface="Consolas"/>
              </a:rPr>
              <a:t>sid:1000056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rev:1;)</a:t>
            </a:r>
          </a:p>
        </p:txBody>
      </p:sp>
      <p:sp>
        <p:nvSpPr>
          <p:cNvPr id="80" name="SID1"/>
          <p:cNvSpPr/>
          <p:nvPr/>
        </p:nvSpPr>
        <p:spPr>
          <a:xfrm>
            <a:off x="7696200" y="10287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70AD47">
              <a:alpha val="30000"/>
            </a:srgbClr>
          </a:solidFill>
          <a:ln w="6350">
            <a:solidFill>
              <a:srgbClr val="70AD47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1000" b="1" dirty="0">
                <a:solidFill>
                  <a:srgbClr val="70AD47"/>
                </a:solidFill>
                <a:latin typeface="Consolas"/>
              </a:rPr>
              <a:t>SID: 1000056</a:t>
            </a:r>
          </a:p>
        </p:txBody>
      </p:sp>
      <p:sp>
        <p:nvSpPr>
          <p:cNvPr id="900" name="ALabel"/>
          <p:cNvSpPr/>
          <p:nvPr/>
        </p:nvSpPr>
        <p:spPr>
          <a:xfrm>
            <a:off x="203200" y="2820511"/>
            <a:ext cx="8661400" cy="190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900" b="1" spc="100" dirty="0">
                <a:solidFill>
                  <a:srgbClr val="5B7FBB"/>
                </a:solidFill>
                <a:latin typeface="Segoe UI"/>
              </a:rPr>
              <a:t>▸  RULE BREAKDOWN</a:t>
            </a:r>
          </a:p>
        </p:txBody>
      </p:sp>
      <p:sp>
        <p:nvSpPr>
          <p:cNvPr id="901" name="ACard"/>
          <p:cNvSpPr/>
          <p:nvPr/>
        </p:nvSpPr>
        <p:spPr>
          <a:xfrm>
            <a:off x="2032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6B6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AStrip"/>
          <p:cNvSpPr/>
          <p:nvPr/>
        </p:nvSpPr>
        <p:spPr>
          <a:xfrm>
            <a:off x="2032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Text"/>
          <p:cNvSpPr/>
          <p:nvPr/>
        </p:nvSpPr>
        <p:spPr>
          <a:xfrm>
            <a:off x="3175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6B6B"/>
                </a:solidFill>
                <a:latin typeface="Segoe UI"/>
              </a:rPr>
              <a:t>ACTION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alert — triggers an IDS alert event</a:t>
            </a:r>
          </a:p>
        </p:txBody>
      </p:sp>
      <p:sp>
        <p:nvSpPr>
          <p:cNvPr id="907" name="ACard"/>
          <p:cNvSpPr/>
          <p:nvPr/>
        </p:nvSpPr>
        <p:spPr>
          <a:xfrm>
            <a:off x="2032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AStrip"/>
          <p:cNvSpPr/>
          <p:nvPr/>
        </p:nvSpPr>
        <p:spPr>
          <a:xfrm>
            <a:off x="2032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AText"/>
          <p:cNvSpPr/>
          <p:nvPr/>
        </p:nvSpPr>
        <p:spPr>
          <a:xfrm>
            <a:off x="3175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D4FF"/>
                </a:solidFill>
                <a:latin typeface="Segoe UI"/>
              </a:rPr>
              <a:t>DETECT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pcre: quote followed by sleep() function call (http_uri)</a:t>
            </a:r>
          </a:p>
        </p:txBody>
      </p:sp>
      <p:sp>
        <p:nvSpPr>
          <p:cNvPr id="910" name="ACard"/>
          <p:cNvSpPr/>
          <p:nvPr/>
        </p:nvSpPr>
        <p:spPr>
          <a:xfrm>
            <a:off x="45974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D93D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AStrip"/>
          <p:cNvSpPr/>
          <p:nvPr/>
        </p:nvSpPr>
        <p:spPr>
          <a:xfrm>
            <a:off x="45974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AText"/>
          <p:cNvSpPr/>
          <p:nvPr/>
        </p:nvSpPr>
        <p:spPr>
          <a:xfrm>
            <a:off x="47117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D93D"/>
                </a:solidFill>
                <a:latin typeface="Segoe UI"/>
              </a:rPr>
              <a:t>CLASSIFY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web-application-attack  |  sid:1000056  |  rev:1</a:t>
            </a:r>
          </a:p>
        </p:txBody>
      </p:sp>
      <p:sp>
        <p:nvSpPr>
          <p:cNvPr id="2" name="ACard">
            <a:extLst>
              <a:ext uri="{FF2B5EF4-FFF2-40B4-BE49-F238E27FC236}">
                <a16:creationId xmlns:a16="http://schemas.microsoft.com/office/drawing/2014/main" id="{9DAC6F84-C971-0A46-E756-77B937C11363}"/>
              </a:ext>
            </a:extLst>
          </p:cNvPr>
          <p:cNvSpPr/>
          <p:nvPr/>
        </p:nvSpPr>
        <p:spPr>
          <a:xfrm>
            <a:off x="45974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70AD4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AStrip">
            <a:extLst>
              <a:ext uri="{FF2B5EF4-FFF2-40B4-BE49-F238E27FC236}">
                <a16:creationId xmlns:a16="http://schemas.microsoft.com/office/drawing/2014/main" id="{22213A27-B208-B781-6AE4-3F70FFFCB742}"/>
              </a:ext>
            </a:extLst>
          </p:cNvPr>
          <p:cNvSpPr/>
          <p:nvPr/>
        </p:nvSpPr>
        <p:spPr>
          <a:xfrm>
            <a:off x="45974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AText">
            <a:extLst>
              <a:ext uri="{FF2B5EF4-FFF2-40B4-BE49-F238E27FC236}">
                <a16:creationId xmlns:a16="http://schemas.microsoft.com/office/drawing/2014/main" id="{F4CB2ECC-294C-FA64-2EE8-C069CFF133BB}"/>
              </a:ext>
            </a:extLst>
          </p:cNvPr>
          <p:cNvSpPr/>
          <p:nvPr/>
        </p:nvSpPr>
        <p:spPr>
          <a:xfrm>
            <a:off x="47117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70AD47"/>
                </a:solidFill>
                <a:latin typeface="Segoe UI"/>
              </a:rPr>
              <a:t>FLOW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C4D0E0"/>
                </a:solidFill>
                <a:latin typeface="Segoe UI"/>
              </a:rPr>
              <a:t>to_server</a:t>
            </a:r>
            <a:r>
              <a:rPr lang="en-US" sz="1100" dirty="0">
                <a:solidFill>
                  <a:srgbClr val="C4D0E0"/>
                </a:solidFill>
                <a:latin typeface="Segoe UI"/>
              </a:rPr>
              <a:t>, established</a:t>
            </a:r>
          </a:p>
        </p:txBody>
      </p:sp>
    </p:spTree>
    <p:extLst>
      <p:ext uri="{BB962C8B-B14F-4D97-AF65-F5344CB8AC3E}">
        <p14:creationId xmlns:p14="http://schemas.microsoft.com/office/powerpoint/2010/main" val="1346672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3323C-5357-21A0-6961-E8426DC4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opLine">
            <a:extLst>
              <a:ext uri="{FF2B5EF4-FFF2-40B4-BE49-F238E27FC236}">
                <a16:creationId xmlns:a16="http://schemas.microsoft.com/office/drawing/2014/main" id="{FBDD050F-4AC1-346F-7FC1-6E60BC1B1F32}"/>
              </a:ext>
            </a:extLst>
          </p:cNvPr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1" name="LeftLine">
            <a:extLst>
              <a:ext uri="{FF2B5EF4-FFF2-40B4-BE49-F238E27FC236}">
                <a16:creationId xmlns:a16="http://schemas.microsoft.com/office/drawing/2014/main" id="{EEB3600D-072F-239B-D968-95C7D554E403}"/>
              </a:ext>
            </a:extLst>
          </p:cNvPr>
          <p:cNvSpPr/>
          <p:nvPr/>
        </p:nvSpPr>
        <p:spPr>
          <a:xfrm>
            <a:off x="0" y="50800"/>
            <a:ext cx="50800" cy="50419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53" name="TitleBar">
            <a:extLst>
              <a:ext uri="{FF2B5EF4-FFF2-40B4-BE49-F238E27FC236}">
                <a16:creationId xmlns:a16="http://schemas.microsoft.com/office/drawing/2014/main" id="{DCCD030D-38A3-0674-30CD-3850CECFEFC3}"/>
              </a:ext>
            </a:extLst>
          </p:cNvPr>
          <p:cNvSpPr/>
          <p:nvPr/>
        </p:nvSpPr>
        <p:spPr>
          <a:xfrm>
            <a:off x="177800" y="152400"/>
            <a:ext cx="8788400" cy="6604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D3B66"/>
              </a:gs>
              <a:gs pos="100000">
                <a:srgbClr val="14274E"/>
              </a:gs>
            </a:gsLst>
            <a:lin ang="0" scaled="1"/>
          </a:gradFill>
          <a:ln w="12700">
            <a:solidFill>
              <a:srgbClr val="00D4FF">
                <a:alpha val="50000"/>
              </a:srgbClr>
            </a:solidFill>
          </a:ln>
        </p:spPr>
        <p:txBody>
          <a:bodyPr lIns="180000" tIns="0" rIns="91440" bIns="0" anchor="ctr" anchorCtr="0"/>
          <a:lstStyle/>
          <a:p>
            <a:pPr algn="l"/>
            <a:r>
              <a:rPr lang="en-US" sz="2000" b="1" dirty="0">
                <a:solidFill>
                  <a:srgbClr val="00D4FF"/>
                </a:solidFill>
                <a:latin typeface="Consolas"/>
              </a:rPr>
              <a:t>RULE SET 4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Time-Based Blind SQLi Detection</a:t>
            </a:r>
          </a:p>
        </p:txBody>
      </p:sp>
      <p:sp>
        <p:nvSpPr>
          <p:cNvPr id="54" name="AccentBar">
            <a:extLst>
              <a:ext uri="{FF2B5EF4-FFF2-40B4-BE49-F238E27FC236}">
                <a16:creationId xmlns:a16="http://schemas.microsoft.com/office/drawing/2014/main" id="{68F20757-E33C-E39D-87B5-BA7B85BF04B0}"/>
              </a:ext>
            </a:extLst>
          </p:cNvPr>
          <p:cNvSpPr/>
          <p:nvPr/>
        </p:nvSpPr>
        <p:spPr>
          <a:xfrm>
            <a:off x="177800" y="838200"/>
            <a:ext cx="8788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0" name="Badge2">
            <a:extLst>
              <a:ext uri="{FF2B5EF4-FFF2-40B4-BE49-F238E27FC236}">
                <a16:creationId xmlns:a16="http://schemas.microsoft.com/office/drawing/2014/main" id="{8DFD9249-BBC9-2970-B882-13576C6E9B29}"/>
              </a:ext>
            </a:extLst>
          </p:cNvPr>
          <p:cNvSpPr/>
          <p:nvPr/>
        </p:nvSpPr>
        <p:spPr>
          <a:xfrm>
            <a:off x="203200" y="1016000"/>
            <a:ext cx="304800" cy="30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A0E1A"/>
                </a:solidFill>
                <a:latin typeface="Segoe UI"/>
              </a:rPr>
              <a:t>2</a:t>
            </a:r>
          </a:p>
        </p:txBody>
      </p:sp>
      <p:sp>
        <p:nvSpPr>
          <p:cNvPr id="71" name="Label2">
            <a:extLst>
              <a:ext uri="{FF2B5EF4-FFF2-40B4-BE49-F238E27FC236}">
                <a16:creationId xmlns:a16="http://schemas.microsoft.com/office/drawing/2014/main" id="{138D61E0-706D-5B3B-E0F3-91BA1E87A0D7}"/>
              </a:ext>
            </a:extLst>
          </p:cNvPr>
          <p:cNvSpPr/>
          <p:nvPr/>
        </p:nvSpPr>
        <p:spPr>
          <a:xfrm>
            <a:off x="584200" y="1016000"/>
            <a:ext cx="7035800" cy="304800"/>
          </a:xfrm>
          <a:prstGeom prst="rect">
            <a:avLst/>
          </a:prstGeom>
          <a:noFill/>
          <a:ln>
            <a:noFill/>
          </a:ln>
        </p:spPr>
        <p:txBody>
          <a:bodyPr lIns="91440" tIns="0" rIns="9144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Segoe UI"/>
              </a:rPr>
              <a:t>MySQL BENCHMARK() Command Detection</a:t>
            </a:r>
          </a:p>
        </p:txBody>
      </p:sp>
      <p:sp>
        <p:nvSpPr>
          <p:cNvPr id="72" name="Code2">
            <a:extLst>
              <a:ext uri="{FF2B5EF4-FFF2-40B4-BE49-F238E27FC236}">
                <a16:creationId xmlns:a16="http://schemas.microsoft.com/office/drawing/2014/main" id="{2C0D6DA8-1B69-3CFE-F28D-F01522F6AD3C}"/>
              </a:ext>
            </a:extLst>
          </p:cNvPr>
          <p:cNvSpPr/>
          <p:nvPr/>
        </p:nvSpPr>
        <p:spPr>
          <a:xfrm>
            <a:off x="203200" y="1397000"/>
            <a:ext cx="8737600" cy="1245711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70AD47">
                <a:alpha val="70000"/>
              </a:srgbClr>
            </a:solidFill>
          </a:ln>
        </p:spPr>
        <p:txBody>
          <a:bodyPr wrap="square" lIns="114300" tIns="91440" rIns="114300" bIns="91440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b="1" spc="-20" dirty="0">
                <a:solidFill>
                  <a:srgbClr val="FF6B6B"/>
                </a:solidFill>
                <a:latin typeface="Consolas"/>
              </a:rPr>
              <a:t>alert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tcp 192.168.1.102 any -&gt; 192.168.1.107 80 (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msg: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"SQLi - Time-Based Blind (BENCHMARK)"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flow: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to_server,established;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pcre:</a:t>
            </a:r>
            <a:r>
              <a:rPr lang="en-US" sz="1500" spc="-20" dirty="0">
                <a:solidFill>
                  <a:srgbClr val="FFD93D"/>
                </a:solidFill>
                <a:latin typeface="Consolas"/>
              </a:rPr>
              <a:t>"/benchmark(s|%20)*(/i"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http_uri;</a:t>
            </a:r>
          </a:p>
          <a:p>
            <a:pPr algn="l">
              <a:lnSpc>
                <a:spcPts val="1600"/>
              </a:lnSpc>
              <a:spcBef>
                <a:spcPts val="0"/>
              </a:spcBef>
            </a:pP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  </a:t>
            </a:r>
            <a:r>
              <a:rPr lang="en-US" sz="1500" spc="-20" dirty="0">
                <a:solidFill>
                  <a:srgbClr val="70AD47"/>
                </a:solidFill>
                <a:latin typeface="Consolas"/>
              </a:rPr>
              <a:t>classtype: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web-application-attack; </a:t>
            </a:r>
            <a:r>
              <a:rPr lang="en-US" sz="1500" spc="-20" dirty="0">
                <a:solidFill>
                  <a:srgbClr val="00D4FF"/>
                </a:solidFill>
                <a:latin typeface="Consolas"/>
              </a:rPr>
              <a:t>sid:1000057</a:t>
            </a:r>
            <a:r>
              <a:rPr lang="en-US" sz="1500" spc="-20" dirty="0">
                <a:solidFill>
                  <a:srgbClr val="E0E0E0"/>
                </a:solidFill>
                <a:latin typeface="Consolas"/>
              </a:rPr>
              <a:t>; rev:1;)</a:t>
            </a:r>
          </a:p>
        </p:txBody>
      </p:sp>
      <p:sp>
        <p:nvSpPr>
          <p:cNvPr id="81" name="SID2">
            <a:extLst>
              <a:ext uri="{FF2B5EF4-FFF2-40B4-BE49-F238E27FC236}">
                <a16:creationId xmlns:a16="http://schemas.microsoft.com/office/drawing/2014/main" id="{3AC1EB18-BB7C-9C89-CF42-5B5D3DD1E271}"/>
              </a:ext>
            </a:extLst>
          </p:cNvPr>
          <p:cNvSpPr/>
          <p:nvPr/>
        </p:nvSpPr>
        <p:spPr>
          <a:xfrm>
            <a:off x="7696200" y="1028700"/>
            <a:ext cx="1244600" cy="279400"/>
          </a:xfrm>
          <a:prstGeom prst="roundRect">
            <a:avLst>
              <a:gd name="adj" fmla="val 50000"/>
            </a:avLst>
          </a:prstGeom>
          <a:solidFill>
            <a:srgbClr val="70AD47">
              <a:alpha val="30000"/>
            </a:srgbClr>
          </a:solidFill>
          <a:ln w="6350">
            <a:solidFill>
              <a:srgbClr val="70AD47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1000" b="1" dirty="0">
                <a:solidFill>
                  <a:srgbClr val="70AD47"/>
                </a:solidFill>
                <a:latin typeface="Consolas"/>
              </a:rPr>
              <a:t>SID: 1000057</a:t>
            </a:r>
          </a:p>
        </p:txBody>
      </p:sp>
      <p:sp>
        <p:nvSpPr>
          <p:cNvPr id="900" name="ALabel"/>
          <p:cNvSpPr/>
          <p:nvPr/>
        </p:nvSpPr>
        <p:spPr>
          <a:xfrm>
            <a:off x="203200" y="2820511"/>
            <a:ext cx="8661400" cy="190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spcBef>
                <a:spcPts val="0"/>
              </a:spcBef>
            </a:pPr>
            <a:r>
              <a:rPr lang="en-US" sz="900" b="1" spc="100" dirty="0">
                <a:solidFill>
                  <a:srgbClr val="5B7FBB"/>
                </a:solidFill>
                <a:latin typeface="Segoe UI"/>
              </a:rPr>
              <a:t>▸  RULE BREAKDOWN</a:t>
            </a:r>
          </a:p>
        </p:txBody>
      </p:sp>
      <p:sp>
        <p:nvSpPr>
          <p:cNvPr id="901" name="ACard"/>
          <p:cNvSpPr/>
          <p:nvPr/>
        </p:nvSpPr>
        <p:spPr>
          <a:xfrm>
            <a:off x="2032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6B6B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AStrip"/>
          <p:cNvSpPr/>
          <p:nvPr/>
        </p:nvSpPr>
        <p:spPr>
          <a:xfrm>
            <a:off x="2032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Text"/>
          <p:cNvSpPr/>
          <p:nvPr/>
        </p:nvSpPr>
        <p:spPr>
          <a:xfrm>
            <a:off x="3175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6B6B"/>
                </a:solidFill>
                <a:latin typeface="Segoe UI"/>
              </a:rPr>
              <a:t>ACTION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alert — triggers an IDS alert event</a:t>
            </a:r>
          </a:p>
        </p:txBody>
      </p:sp>
      <p:sp>
        <p:nvSpPr>
          <p:cNvPr id="904" name="ACard"/>
          <p:cNvSpPr/>
          <p:nvPr/>
        </p:nvSpPr>
        <p:spPr>
          <a:xfrm>
            <a:off x="4597400" y="3049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70AD47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5" name="AStrip"/>
          <p:cNvSpPr/>
          <p:nvPr/>
        </p:nvSpPr>
        <p:spPr>
          <a:xfrm>
            <a:off x="4597400" y="3150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" name="AText"/>
          <p:cNvSpPr/>
          <p:nvPr/>
        </p:nvSpPr>
        <p:spPr>
          <a:xfrm>
            <a:off x="4711700" y="3099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70AD47"/>
                </a:solidFill>
                <a:latin typeface="Segoe UI"/>
              </a:rPr>
              <a:t>FLOW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 err="1">
                <a:solidFill>
                  <a:srgbClr val="C4D0E0"/>
                </a:solidFill>
                <a:latin typeface="Segoe UI"/>
              </a:rPr>
              <a:t>to_server</a:t>
            </a:r>
            <a:r>
              <a:rPr lang="en-US" sz="1100" dirty="0">
                <a:solidFill>
                  <a:srgbClr val="C4D0E0"/>
                </a:solidFill>
                <a:latin typeface="Segoe UI"/>
              </a:rPr>
              <a:t>, established</a:t>
            </a:r>
          </a:p>
        </p:txBody>
      </p:sp>
      <p:sp>
        <p:nvSpPr>
          <p:cNvPr id="907" name="ACard"/>
          <p:cNvSpPr/>
          <p:nvPr/>
        </p:nvSpPr>
        <p:spPr>
          <a:xfrm>
            <a:off x="2032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8" name="AStrip"/>
          <p:cNvSpPr/>
          <p:nvPr/>
        </p:nvSpPr>
        <p:spPr>
          <a:xfrm>
            <a:off x="2032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AText"/>
          <p:cNvSpPr/>
          <p:nvPr/>
        </p:nvSpPr>
        <p:spPr>
          <a:xfrm>
            <a:off x="3175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D4FF"/>
                </a:solidFill>
                <a:latin typeface="Segoe UI"/>
              </a:rPr>
              <a:t>DETECT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pcre: benchmark() function call in URI (URL-encoded)</a:t>
            </a:r>
          </a:p>
        </p:txBody>
      </p:sp>
      <p:sp>
        <p:nvSpPr>
          <p:cNvPr id="910" name="ACard"/>
          <p:cNvSpPr/>
          <p:nvPr/>
        </p:nvSpPr>
        <p:spPr>
          <a:xfrm>
            <a:off x="4597400" y="3684111"/>
            <a:ext cx="4267200" cy="5588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9525">
            <a:solidFill>
              <a:srgbClr val="FFD93D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AStrip"/>
          <p:cNvSpPr/>
          <p:nvPr/>
        </p:nvSpPr>
        <p:spPr>
          <a:xfrm>
            <a:off x="4597400" y="378571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AText"/>
          <p:cNvSpPr/>
          <p:nvPr/>
        </p:nvSpPr>
        <p:spPr>
          <a:xfrm>
            <a:off x="4711700" y="3734911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FFD93D"/>
                </a:solidFill>
                <a:latin typeface="Segoe UI"/>
              </a:rPr>
              <a:t>CLASSIFY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sz="1100" dirty="0">
                <a:solidFill>
                  <a:srgbClr val="C4D0E0"/>
                </a:solidFill>
                <a:latin typeface="Segoe UI"/>
              </a:rPr>
              <a:t>web-application-attack  |  sid:1000057  |  rev:1</a:t>
            </a:r>
          </a:p>
        </p:txBody>
      </p:sp>
    </p:spTree>
    <p:extLst>
      <p:ext uri="{BB962C8B-B14F-4D97-AF65-F5344CB8AC3E}">
        <p14:creationId xmlns:p14="http://schemas.microsoft.com/office/powerpoint/2010/main" val="2752698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49971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4B04F67-E47B-1A84-73D5-8629BA3AB4A0}"/>
              </a:ext>
            </a:extLst>
          </p:cNvPr>
          <p:cNvSpPr/>
          <p:nvPr/>
        </p:nvSpPr>
        <p:spPr>
          <a:xfrm>
            <a:off x="140675" y="714814"/>
            <a:ext cx="8855613" cy="1856936"/>
          </a:xfrm>
          <a:prstGeom prst="roundRect">
            <a:avLst>
              <a:gd name="adj" fmla="val 29546"/>
            </a:avLst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6128A8-5BD8-D88F-7594-58580536C2F3}"/>
              </a:ext>
            </a:extLst>
          </p:cNvPr>
          <p:cNvSpPr txBox="1"/>
          <p:nvPr/>
        </p:nvSpPr>
        <p:spPr>
          <a:xfrm>
            <a:off x="140676" y="225083"/>
            <a:ext cx="142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/>
                </a:solidFill>
                <a:latin typeface="Algerian" panose="04020705040A02060702" pitchFamily="82" charset="0"/>
                <a:cs typeface="Andalus" panose="02020603050405020304" pitchFamily="18" charset="-78"/>
              </a:rPr>
              <a:t>Prompt:</a:t>
            </a:r>
            <a:endParaRPr lang="en-AE" i="1" dirty="0">
              <a:solidFill>
                <a:schemeClr val="bg2"/>
              </a:solidFill>
              <a:latin typeface="Algerian" panose="04020705040A02060702" pitchFamily="82" charset="0"/>
              <a:cs typeface="Andalus" panose="02020603050405020304" pitchFamily="18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F26FEE-1B6E-811F-1C28-71D9118266EA}"/>
              </a:ext>
            </a:extLst>
          </p:cNvPr>
          <p:cNvSpPr txBox="1"/>
          <p:nvPr/>
        </p:nvSpPr>
        <p:spPr>
          <a:xfrm>
            <a:off x="851094" y="949940"/>
            <a:ext cx="658016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E" sz="1400" dirty="0">
                <a:solidFill>
                  <a:srgbClr val="92D050"/>
                </a:solidFill>
                <a:latin typeface="Aptos Slab Black" panose="020B0004020202020204" pitchFamily="34" charset="0"/>
              </a:rPr>
              <a:t>You are a Digital Forensics and malware analyst expert. your work is to give slides about: "Understanding Snort Rules: Structure, Syntax, and Academic Logic Behind Signatures." </a:t>
            </a:r>
          </a:p>
          <a:p>
            <a:pPr algn="ctr">
              <a:buNone/>
            </a:pPr>
            <a:endParaRPr lang="en-AE" sz="1400" dirty="0">
              <a:solidFill>
                <a:srgbClr val="92D050"/>
              </a:solidFill>
              <a:latin typeface="Aptos Slab Black" panose="020B0004020202020204" pitchFamily="34" charset="0"/>
            </a:endParaRPr>
          </a:p>
          <a:p>
            <a:pPr algn="ctr">
              <a:buNone/>
            </a:pPr>
            <a:r>
              <a:rPr lang="en-AE" sz="1400" dirty="0">
                <a:solidFill>
                  <a:srgbClr val="92D050"/>
                </a:solidFill>
                <a:latin typeface="Aptos Slab Black" panose="020B0004020202020204" pitchFamily="34" charset="0"/>
              </a:rPr>
              <a:t>Based on your experience and knowledge, give a good subject in 10 slides. Give the core concept related to the info here and also your experience in the malware &amp; digital forensics fields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5745C4D-D82D-A0A3-AE03-BE847194D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068" y="1094796"/>
            <a:ext cx="1205271" cy="12052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FFE4A4-E8F8-AE7B-021E-1B5C2858E128}"/>
              </a:ext>
            </a:extLst>
          </p:cNvPr>
          <p:cNvSpPr txBox="1"/>
          <p:nvPr/>
        </p:nvSpPr>
        <p:spPr>
          <a:xfrm>
            <a:off x="140676" y="3093013"/>
            <a:ext cx="164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/>
                </a:solidFill>
                <a:latin typeface="Algerian" panose="04020705040A02060702" pitchFamily="82" charset="0"/>
                <a:cs typeface="Andalus" panose="02020603050405020304" pitchFamily="18" charset="-78"/>
              </a:rPr>
              <a:t>resources:</a:t>
            </a:r>
            <a:endParaRPr lang="en-AE" i="1" dirty="0">
              <a:solidFill>
                <a:schemeClr val="bg2"/>
              </a:solidFill>
              <a:latin typeface="Algerian" panose="04020705040A02060702" pitchFamily="82" charset="0"/>
              <a:cs typeface="Andalus" panose="02020603050405020304" pitchFamily="18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B588C-2893-76B8-F26C-4B50966B5EBD}"/>
              </a:ext>
            </a:extLst>
          </p:cNvPr>
          <p:cNvSpPr txBox="1"/>
          <p:nvPr/>
        </p:nvSpPr>
        <p:spPr>
          <a:xfrm>
            <a:off x="267285" y="3454896"/>
            <a:ext cx="69002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Kali Linux: https://www.kali.org/get-kali/</a:t>
            </a:r>
          </a:p>
          <a:p>
            <a:r>
              <a:rPr lang="en-US" dirty="0">
                <a:solidFill>
                  <a:schemeClr val="bg1"/>
                </a:solidFill>
              </a:rPr>
              <a:t>Ubuntu: http://ubuntu.com/download</a:t>
            </a:r>
            <a:endParaRPr lang="en-AE" dirty="0">
              <a:solidFill>
                <a:schemeClr val="bg1"/>
              </a:solidFill>
            </a:endParaRPr>
          </a:p>
          <a:p>
            <a:r>
              <a:rPr lang="en-AE" dirty="0">
                <a:solidFill>
                  <a:schemeClr val="bg1"/>
                </a:solidFill>
              </a:rPr>
              <a:t>Virtual Box: </a:t>
            </a:r>
            <a:r>
              <a:rPr lang="en-US" dirty="0">
                <a:solidFill>
                  <a:schemeClr val="bg1"/>
                </a:solidFill>
              </a:rPr>
              <a:t>http://virtualbox.org/wiki/Downloads</a:t>
            </a:r>
            <a:endParaRPr lang="en-AE" dirty="0">
              <a:solidFill>
                <a:schemeClr val="bg1"/>
              </a:solidFill>
            </a:endParaRPr>
          </a:p>
          <a:p>
            <a:r>
              <a:rPr lang="en-AE" dirty="0">
                <a:solidFill>
                  <a:schemeClr val="bg1"/>
                </a:solidFill>
              </a:rPr>
              <a:t>Snort 2 : </a:t>
            </a:r>
            <a:r>
              <a:rPr lang="en-US" dirty="0">
                <a:solidFill>
                  <a:schemeClr val="bg1"/>
                </a:solidFill>
              </a:rPr>
              <a:t>https://www.snort.org/snort2</a:t>
            </a:r>
            <a:endParaRPr lang="en-AE" dirty="0">
              <a:solidFill>
                <a:schemeClr val="bg1"/>
              </a:solidFill>
            </a:endParaRPr>
          </a:p>
          <a:p>
            <a:r>
              <a:rPr lang="en-AE" dirty="0">
                <a:solidFill>
                  <a:schemeClr val="bg1"/>
                </a:solidFill>
              </a:rPr>
              <a:t>SQLmap: </a:t>
            </a:r>
            <a:r>
              <a:rPr lang="en-US" dirty="0">
                <a:solidFill>
                  <a:schemeClr val="bg1"/>
                </a:solidFill>
              </a:rPr>
              <a:t>https://github.com/sqlmapproject/sqlmap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88BE4F-C0F2-5C54-A093-546A883BD1BD}"/>
              </a:ext>
            </a:extLst>
          </p:cNvPr>
          <p:cNvGrpSpPr/>
          <p:nvPr/>
        </p:nvGrpSpPr>
        <p:grpSpPr>
          <a:xfrm>
            <a:off x="-4083038" y="2609354"/>
            <a:ext cx="2950029" cy="2275333"/>
            <a:chOff x="3344119" y="1332652"/>
            <a:chExt cx="2950029" cy="227533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978C1D-912D-B95D-1F84-F5C660D79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0426" y="1332652"/>
              <a:ext cx="1848605" cy="184860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C5E42E-9BCB-916F-DD75-0B0F21C3E203}"/>
                </a:ext>
              </a:extLst>
            </p:cNvPr>
            <p:cNvSpPr txBox="1"/>
            <p:nvPr/>
          </p:nvSpPr>
          <p:spPr>
            <a:xfrm>
              <a:off x="3344119" y="3207875"/>
              <a:ext cx="295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AC53098-7AAC-1231-5C1E-F3239C108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8390" y="3093013"/>
            <a:ext cx="2733759" cy="1308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F258DF-70B3-0FFD-03DB-E32F29263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2149" y="5850414"/>
            <a:ext cx="2477672" cy="1350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45A93C7-FBAF-482D-A780-F522B9E8A08F}"/>
              </a:ext>
            </a:extLst>
          </p:cNvPr>
          <p:cNvGrpSpPr/>
          <p:nvPr/>
        </p:nvGrpSpPr>
        <p:grpSpPr>
          <a:xfrm>
            <a:off x="10100816" y="-312835"/>
            <a:ext cx="2488909" cy="2525549"/>
            <a:chOff x="42240" y="1081659"/>
            <a:chExt cx="2488909" cy="2525549"/>
          </a:xfrm>
        </p:grpSpPr>
        <p:pic>
          <p:nvPicPr>
            <p:cNvPr id="14" name="Google Shape;215;p27">
              <a:extLst>
                <a:ext uri="{FF2B5EF4-FFF2-40B4-BE49-F238E27FC236}">
                  <a16:creationId xmlns:a16="http://schemas.microsoft.com/office/drawing/2014/main" id="{EBC99EC0-A354-B9F2-CC2C-A53E99AFFDB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13300" r="13300"/>
            <a:stretch/>
          </p:blipFill>
          <p:spPr>
            <a:xfrm>
              <a:off x="133716" y="1081659"/>
              <a:ext cx="2238618" cy="22755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58BBE2-23B2-0628-A2E8-DC49FFCB69E3}"/>
                </a:ext>
              </a:extLst>
            </p:cNvPr>
            <p:cNvSpPr txBox="1"/>
            <p:nvPr/>
          </p:nvSpPr>
          <p:spPr>
            <a:xfrm>
              <a:off x="42240" y="3207098"/>
              <a:ext cx="2488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AE" sz="2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93D53259-8088-3748-A185-8441F0A2BC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630657" y="5697352"/>
            <a:ext cx="1656456" cy="1656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641A2-500A-6ACF-34EF-AF6182E2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670841-10A9-A1E4-B19C-7CEC3303011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D1CEF9-4599-4EB1-FE35-209292335F74}"/>
              </a:ext>
            </a:extLst>
          </p:cNvPr>
          <p:cNvSpPr/>
          <p:nvPr/>
        </p:nvSpPr>
        <p:spPr>
          <a:xfrm>
            <a:off x="0" y="73152"/>
            <a:ext cx="54864" cy="49971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7BCB5A-CE99-8ACD-9DE7-4496826FA033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4F473-0A88-EF40-07B2-B86650AC8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948" y="399818"/>
            <a:ext cx="1562870" cy="15628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F7302-36B0-70FB-AFC4-874DD79DA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292" y="2147208"/>
            <a:ext cx="1486526" cy="1486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ECB4FC-29F0-951A-A92B-825BD281C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205" y="2440357"/>
            <a:ext cx="2317643" cy="11089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3412FC-E781-AD05-5B9D-AF792412B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86" y="3853363"/>
            <a:ext cx="1882547" cy="1025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Google Shape;215;p27">
            <a:extLst>
              <a:ext uri="{FF2B5EF4-FFF2-40B4-BE49-F238E27FC236}">
                <a16:creationId xmlns:a16="http://schemas.microsoft.com/office/drawing/2014/main" id="{02ED1EEB-3474-9123-4CAD-C4DEB9AC673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3300" r="13300"/>
          <a:stretch/>
        </p:blipFill>
        <p:spPr>
          <a:xfrm>
            <a:off x="54864" y="264149"/>
            <a:ext cx="1828533" cy="1872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CAE2BD-3CE8-FEC0-156D-723D45762D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5948" y="3572801"/>
            <a:ext cx="1656456" cy="1656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217258-77EC-F652-9C0D-EB7FF9C2A3A9}"/>
              </a:ext>
            </a:extLst>
          </p:cNvPr>
          <p:cNvSpPr txBox="1"/>
          <p:nvPr/>
        </p:nvSpPr>
        <p:spPr>
          <a:xfrm>
            <a:off x="2710713" y="2117191"/>
            <a:ext cx="372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00B0F0"/>
                </a:solidFill>
                <a:latin typeface="Algerian" panose="04020705040A02060702" pitchFamily="82" charset="0"/>
              </a:rPr>
              <a:t>THANK YOU</a:t>
            </a:r>
            <a:endParaRPr lang="en-AE" sz="4800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143C729D-67D4-B3FA-F84A-7553D9865115}"/>
              </a:ext>
            </a:extLst>
          </p:cNvPr>
          <p:cNvSpPr/>
          <p:nvPr/>
        </p:nvSpPr>
        <p:spPr>
          <a:xfrm>
            <a:off x="9089136" y="73152"/>
            <a:ext cx="54864" cy="49971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9200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BFEB8A-2880-45D0-B862-3890CC6501A7}">
  <we:reference id="wa200010001" version="1.0.0.0" store="en-US" storeType="OMEX"/>
  <we:alternateReferences>
    <we:reference id="wa200010001" version="1.0.0.0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3096</Words>
  <Application>Microsoft Office PowerPoint</Application>
  <PresentationFormat>On-screen Show (16:9)</PresentationFormat>
  <Paragraphs>436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Abadi</vt:lpstr>
      <vt:lpstr>Algerian</vt:lpstr>
      <vt:lpstr>Amasis MT Pro</vt:lpstr>
      <vt:lpstr>Amasis MT Pro Black</vt:lpstr>
      <vt:lpstr>Aptos</vt:lpstr>
      <vt:lpstr>Aptos Black</vt:lpstr>
      <vt:lpstr>Aptos Slab Black</vt:lpstr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Snort Rules</dc:title>
  <dc:subject>PptxGenJS Presentation</dc:subject>
  <dc:creator>Digital Forensics &amp; Malware Analysis Expert</dc:creator>
  <cp:lastModifiedBy>BLACK CYBER</cp:lastModifiedBy>
  <cp:revision>87</cp:revision>
  <dcterms:created xsi:type="dcterms:W3CDTF">2026-02-20T16:19:50Z</dcterms:created>
  <dcterms:modified xsi:type="dcterms:W3CDTF">2026-03-18T21:03:23Z</dcterms:modified>
</cp:coreProperties>
</file>